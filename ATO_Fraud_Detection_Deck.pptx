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Title Slide</a:t>
            </a:r>
          </a:p>
          <a:p/>
          <a:p>
            <a:r>
              <a:t>Opening hook: "Account takeover is the fastest-growing form of digital fraud. It costs US financial institutions over $11 billion annually — and that number is accelerating as attackers weaponize AI and credential dumps from data breaches."</a:t>
            </a:r>
          </a:p>
          <a:p/>
          <a:p>
            <a:r>
              <a:t>Key framing points:</a:t>
            </a:r>
          </a:p>
          <a:p>
            <a:r>
              <a:t>• This is a complete, production-grade ATO detection system built entirely on Snowflake — no external ML platforms, no separate policy engines, no data movement.</a:t>
            </a:r>
          </a:p>
          <a:p>
            <a:r>
              <a:t>• It demonstrates how Snowflake can serve as a unified fraud intelligence platform: from raw event ingestion through ML scoring to analyst investigation and regulatory compliance.</a:t>
            </a:r>
          </a:p>
          <a:p>
            <a:r>
              <a:t>• The system uses synthetic data (50K customers, 13M+ login events) to demonstrate real-world scale and 10 distinct attack scenarios.</a:t>
            </a:r>
          </a:p>
          <a:p>
            <a:r>
              <a:t>• Transition: "Let me walk you through the business problem this solves and how we built a solution that consolidates what typically requires 5-7 separate tools into a single platform."</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The Business Problem</a:t>
            </a:r>
          </a:p>
          <a:p/>
          <a:p>
            <a:r>
              <a:t>Delivery guidance: Let the KPI cards land visually before speaking. Pause on the $11B number.</a:t>
            </a:r>
          </a:p>
          <a:p/>
          <a:p>
            <a:r>
              <a:t>Talking points:</a:t>
            </a:r>
          </a:p>
          <a:p>
            <a:r>
              <a:t>• "$11 billion — that's the annual cost of account takeover in the US alone, per Javelin Strategy &amp; Research. And it's growing at 354% year-over-year as attackers leverage credential dumps from breaches and GenAI-powered social engineering."</a:t>
            </a:r>
          </a:p>
          <a:p>
            <a:r>
              <a:t>• "The average compromised account costs $12K–$25K when you factor in direct losses, chargebacks, remediation, regulatory fines, and — often overlooked — customer lifetime value erosion."</a:t>
            </a:r>
          </a:p>
          <a:p>
            <a:r>
              <a:t>• "But here's the real problem: dwell time. Attackers are inside accounts for 30 to 90 days on average before anyone notices. By then, they've changed recovery emails, drained funds, and moved on."</a:t>
            </a:r>
          </a:p>
          <a:p>
            <a:r>
              <a:t>• "Why? Because most fraud teams are still running static rule engines designed for a different era. These systems generate so many false positives that analysts develop alert fatigue — they literally stop looking."</a:t>
            </a:r>
          </a:p>
          <a:p>
            <a:r>
              <a:t>• "Meanwhile, the data they need is scattered across 5–7 different tools: one for login analytics, another for device fingerprinting, another for behavioral biometrics, a separate threat intel feed, and a policy engine that doesn't talk to any of them."</a:t>
            </a:r>
          </a:p>
          <a:p>
            <a:r>
              <a:t>• Transition: "So the question becomes: what if you could unify all of this on a single platform?"</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Target Personas</a:t>
            </a:r>
          </a:p>
          <a:p/>
          <a:p>
            <a:r>
              <a:t>Delivery guidance: Don't read each card — group them into two audience tiers.</a:t>
            </a:r>
          </a:p>
          <a:p/>
          <a:p>
            <a:r>
              <a:t>Talking points:</a:t>
            </a:r>
          </a:p>
          <a:p>
            <a:r>
              <a:t>• "This system serves two tiers. The operational tier: Fraud Ops leads who need real-time decisioning, and analysts who need investigation tools with enough context to make fast, accurate calls."</a:t>
            </a:r>
          </a:p>
          <a:p>
            <a:r>
              <a:t>• "The oversight tier: CISOs who report fraud metrics to the board, and compliance officers who prove controls to regulators."</a:t>
            </a:r>
          </a:p>
          <a:p>
            <a:r>
              <a:t>• "Underpinning both are data and ML engineers who build and maintain the pipeline — model registry, leakage guards, versioned artifacts, and a validation suite."</a:t>
            </a:r>
          </a:p>
          <a:p>
            <a:r>
              <a:t>• "All five personas are served by the same unified platform — same data, same models, same policy engine — just through different lenses. That eliminates the 'swivel-chair' problem of toggling between 5 tools."</a:t>
            </a:r>
          </a:p>
          <a:p>
            <a:r>
              <a:t>• Transition: "Let me show you the pain points each faces today and how this system addresses them."</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Pain Points vs. Solution</a:t>
            </a:r>
          </a:p>
          <a:p/>
          <a:p>
            <a:r>
              <a:t>Delivery guidance: Walk through 2–3 rows in detail. Pick ones most relevant to your audience.</a:t>
            </a:r>
          </a:p>
          <a:p/>
          <a:p>
            <a:r>
              <a:t>For fraud operations (rows 1–3):</a:t>
            </a:r>
          </a:p>
          <a:p>
            <a:r>
              <a:t>• "Row 1 is the core ML value proposition. Static rules catch what you've seen before — but credential stuffing, SIM-swap, and bot automation evolve weekly. Our 4-layer ensemble combines supervised learning, unsupervised anomaly detection, and identity graph analysis. The meta-model calibrates all three into a single 0–1000 score."</a:t>
            </a:r>
          </a:p>
          <a:p>
            <a:r>
              <a:t>• "Row 2 is latency. Dynamic Tables with 1-minute target lag mean we compute risk features continuously. When an attacker logs in from an impossible location, we know within a minute."</a:t>
            </a:r>
          </a:p>
          <a:p>
            <a:r>
              <a:t>• "Row 3 is analyst efficiency. Instead of 10,000 alerts, we tier them: SAFE flows through, STEP-UP triggers MFA, only BLOCK requires human investigation."</a:t>
            </a:r>
          </a:p>
          <a:p/>
          <a:p>
            <a:r>
              <a:t>For CISO / compliance (rows 4–6):</a:t>
            </a:r>
          </a:p>
          <a:p>
            <a:r>
              <a:t>• "Row 4 is platform consolidation — 5–7 tools → one Snowflake instance."</a:t>
            </a:r>
          </a:p>
          <a:p>
            <a:r>
              <a:t>• "Row 5 is regulatory — 24M rule evaluation audit records, Cortex Agent for policy + Federal Register lookup."</a:t>
            </a:r>
          </a:p>
          <a:p>
            <a:r>
              <a:t>• "Row 6 is trust — per-login risk factor attribution, versioned model registry, leakage guards."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Architecture &amp; Data Flow</a:t>
            </a:r>
          </a:p>
          <a:p/>
          <a:p>
            <a:r>
              <a:t>Delivery guidance: Walk top-to-bottom, left-to-right. Emphasize the structured/unstructured split and modular design.</a:t>
            </a:r>
          </a:p>
          <a:p/>
          <a:p>
            <a:r>
              <a:t>Talking points:</a:t>
            </a:r>
          </a:p>
          <a:p>
            <a:r>
              <a:t>• "The architecture has three tiers. At the top, data sources — split into structured and unstructured."</a:t>
            </a:r>
          </a:p>
          <a:p>
            <a:r>
              <a:t>• "Structured data includes 13M+ login events, 50K customer accounts, device fingerprints, behavioral telemetry from keystrokes and mouse patterns, an identity graph mapping entity relationships, and external threat intelligence feeds. All live in the RAW schema."</a:t>
            </a:r>
          </a:p>
          <a:p>
            <a:r>
              <a:t>• "Unstructured data includes 6 fraud policy documents chunked for semantic search, a live connection to the Federal Register API via an MCP server, and a 648-line Semantic View YAML that defines the governed analytical surface."</a:t>
            </a:r>
          </a:p>
          <a:p>
            <a:r>
              <a:t>• "The middle tier is four modular processing components — each independently deployable and testable:"</a:t>
            </a:r>
          </a:p>
          <a:p>
            <a:r>
              <a:t>  - "Feature Engineering: 5 Dynamic Tables with 1-minute lag"</a:t>
            </a:r>
          </a:p>
          <a:p>
            <a:r>
              <a:t>  - "ML Scoring: the 4-layer ensemble we'll deep-dive next"</a:t>
            </a:r>
          </a:p>
          <a:p>
            <a:r>
              <a:t>  - "Intelligence Layer: Cortex Agent routing to SQL, search, and regulatory APIs"</a:t>
            </a:r>
          </a:p>
          <a:p>
            <a:r>
              <a:t>  - "Governance: masking, row access policies, RBAC, and audit infrastructure"</a:t>
            </a:r>
          </a:p>
          <a:p>
            <a:r>
              <a:t>• "Each module maps to a dedicated Snowflake schema — this isn't just code organization, it's a security boundary. You can grant FEATURES read-only to data scientists, SCORING read-only to fraud ops, and GOVERNANCE admin-only to compliance."</a:t>
            </a:r>
          </a:p>
          <a:p>
            <a:r>
              <a:t>• "At the bottom, everything converges into a 4-page Streamlit Command Center running on Container Runtime."</a:t>
            </a:r>
          </a:p>
          <a:p>
            <a:r>
              <a:t>• Transition: "Let me show you how Cortex Code skills were used to build each of these components."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CoCo CLI Skills &amp; How They Connect</a:t>
            </a:r>
          </a:p>
          <a:p/>
          <a:p>
            <a:r>
              <a:t>Delivery guidance: This slide demonstrates the development methodology. Emphasize that CoCo skills are the building blocks — each maps to a modular component.</a:t>
            </a:r>
          </a:p>
          <a:p/>
          <a:p>
            <a:r>
              <a:t>Talking points:</a:t>
            </a:r>
          </a:p>
          <a:p>
            <a:r>
              <a:t>• "We built this entire system using 10 CoCo CLI skills — each one mapping to a specific component of the architecture."</a:t>
            </a:r>
          </a:p>
          <a:p/>
          <a:p>
            <a:r>
              <a:t>• Phase 1 — sql-author: "This was the foundation. Every DDL statement, data generation script, grant, and governance policy was authored through the sql-author skill. That's 10 data generation scripts, 5 Dynamic Table definitions, environment setup, and governance infrastructure."</a:t>
            </a:r>
          </a:p>
          <a:p/>
          <a:p>
            <a:r>
              <a:t>• Phase 2 — dynamic-tables: "The feature engineering layer used the dynamic-tables skill to create and validate 5 DTs with 1-minute target lag. The skill handles incremental refresh optimization, which is critical when you're processing 13M+ events."</a:t>
            </a:r>
          </a:p>
          <a:p/>
          <a:p>
            <a:r>
              <a:t>• Phase 3 — snowpark-python: "All ML work — training XGBoost and Isolation Forest, computing graph features, running ensemble scoring, and registering models — used the snowpark-python skill. The data never leaves Snowflake."</a:t>
            </a:r>
          </a:p>
          <a:p/>
          <a:p>
            <a:r>
              <a:t>• Phase 4 — agent-studio: "The intelligence layer was built with agent-studio: a 648-line Semantic View YAML with 14+ verified query representations, the Cortex Agent spec with 3-channel routing, and the system prompt that governs intent classification."</a:t>
            </a:r>
          </a:p>
          <a:p/>
          <a:p>
            <a:r>
              <a:t>• Phase 5 — streamlit-in-workspaces: "The 4-page Command Center was built with the Streamlit skill, deployed on Container Runtime."</a:t>
            </a:r>
          </a:p>
          <a:p/>
          <a:p>
            <a:r>
              <a:t>• "The bottom row shows cross-cutting skills that support multiple phases: data-governance for masking and RBAC, data-quality for pipeline validation, machine-learning for model registry, cortex-ai-function-studio for Cortex Search indexing, and skill-development for the MCP server."</a:t>
            </a:r>
          </a:p>
          <a:p/>
          <a:p>
            <a:r>
              <a:t>• "The key point: these skills are composable. You could take the Dynamic Tables skill output and plug in a different ML framework. You could swap the Streamlit frontend for an API. Each module has clean interfaces."</a:t>
            </a:r>
          </a:p>
          <a:p/>
          <a:p>
            <a:r>
              <a:t>Transition: "Now let me zoom into the ML ensemble."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4-Layer ML Ensemble</a:t>
            </a:r>
          </a:p>
          <a:p/>
          <a:p>
            <a:r>
              <a:t>Delivery guidance: Adjust depth based on audience — executives need the "why 4 layers" story; ML engineers want noise injection and leakage guard details.</a:t>
            </a:r>
          </a:p>
          <a:p/>
          <a:p>
            <a:r>
              <a:t>Executive version:</a:t>
            </a:r>
          </a:p>
          <a:p>
            <a:r>
              <a:t>• "Why four layers? Because ATO is multi-dimensional. No single model catches credential stuffing AND SIM-swap AND fraud rings AND zero-day attacks."</a:t>
            </a:r>
          </a:p>
          <a:p>
            <a:r>
              <a:t>• "Layer 1 learns from historical patterns. Layer 2 learns what normal looks like and flags anything unusual — even attack types we've never seen. Layer 3 looks at relationships — shared devices and IP clusters. Layer 4 calibrates everything into a single score."</a:t>
            </a:r>
          </a:p>
          <a:p>
            <a:r>
              <a:t>• "Three decision tiers: SAFE = frictionless. STEP-UP = adaptive MFA. BLOCK = auto-lock."</a:t>
            </a:r>
          </a:p>
          <a:p/>
          <a:p>
            <a:r>
              <a:t>Technical version:</a:t>
            </a:r>
          </a:p>
          <a:p>
            <a:r>
              <a:t>• "Layer 1 — XGBoost with 19 features after removing 4 leaky ones (automated AUC-per-feature check, threshold 0.95). Temporal split: train on first 70 days, test on last 20. Five noise injection strategies harden the model."</a:t>
            </a:r>
          </a:p>
          <a:p>
            <a:r>
              <a:t>• "Layer 2 — Isolation Forest trained exclusively on legitimate traffic — our zero-day detector. 8 behavioral features: keystroke intervals, mouse entropy, touch pressure, dwell time, geo velocity."</a:t>
            </a:r>
          </a:p>
          <a:p>
            <a:r>
              <a:t>• "Layer 3 — Graph risk from identity topology. 6 structural features, rule-based scoring. 494 fraud ring members caught."</a:t>
            </a:r>
          </a:p>
          <a:p>
            <a:r>
              <a:t>• "Layer 4 — Weighted blend (50/30/20), validates no model has unrealistic AUC (&gt;= 0.99), checks for leaky features."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Industry &amp; Regulatory Context</a:t>
            </a:r>
          </a:p>
          <a:p/>
          <a:p>
            <a:r>
              <a:t>Delivery guidance: Choose the angle based on audience.</a:t>
            </a:r>
          </a:p>
          <a:p/>
          <a:p>
            <a:r>
              <a:t>For financial services:</a:t>
            </a:r>
          </a:p>
          <a:p>
            <a:r>
              <a:t>• "The threat landscape has fundamentally shifted. Credential dumps from breaches put billions of username/password pairs into circulation. Automated toolkits let attackers test thousands per minute."</a:t>
            </a:r>
          </a:p>
          <a:p>
            <a:r>
              <a:t>• "SIM-swap defeats the most common second factor — SMS OTP. GenAI accelerates social engineering. And remote-first banking means the login event is the entire security perimeter."</a:t>
            </a:r>
          </a:p>
          <a:p/>
          <a:p>
            <a:r>
              <a:t>For compliance audiences:</a:t>
            </a:r>
          </a:p>
          <a:p>
            <a:r>
              <a:t>• "Six regulatory frameworks now require real-time ATO detection. The FTC Safeguards Rule is the broadest. The CFPB Reg E proposal is the one that gets CFOs' attention — it shifts liability onto the institution."</a:t>
            </a:r>
          </a:p>
          <a:p>
            <a:r>
              <a:t>• "Our system addresses all six: real-time scoring (FTC), MFA via STEP-UP tier (CFPB), audit trail for SAR filing (FinCEN), risk-based tiers (FFIEC), and 72-hour reporting infrastructure (CIRCIA)."</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Impact Statement</a:t>
            </a:r>
          </a:p>
          <a:p/>
          <a:p>
            <a:r>
              <a:t>Delivery guidance: Lead with the measurable outcomes, then pivot to scalability and extensibility.</a:t>
            </a:r>
          </a:p>
          <a:p/>
          <a:p>
            <a:r>
              <a:t>Measurable Outcomes:</a:t>
            </a:r>
          </a:p>
          <a:p>
            <a:r>
              <a:t>• "Three concrete improvements over traditional approaches:"</a:t>
            </a:r>
          </a:p>
          <a:p>
            <a:r>
              <a:t>• "First: 70–85% reduction in false positives. This comes from replacing static rule thresholds with a calibrated 0–1000 score and three decision tiers. Instead of flagging every login from a new device, we combine device trust, behavioral biometrics, and velocity signals to make a nuanced decision."</a:t>
            </a:r>
          </a:p>
          <a:p>
            <a:r>
              <a:t>• "Second: 60× faster detection. Dynamic Tables with 1-minute lag replace 60-minute+ batch jobs. When an attacker logs in from an impossible location, the system knows within a minute — not the next morning."</a:t>
            </a:r>
          </a:p>
          <a:p>
            <a:r>
              <a:t>• "Third: platform consolidation from 5 tools to 1. The licensing cost savings alone are significant, but the real win is operational: one security model, one governance framework, one place to audit."</a:t>
            </a:r>
          </a:p>
          <a:p/>
          <a:p>
            <a:r>
              <a:t>Scalability:</a:t>
            </a:r>
          </a:p>
          <a:p>
            <a:r>
              <a:t>• "Snowflake's elastic compute means this architecture scales from our 50K-account demo to millions of accounts without architectural changes — just resize the warehouse."</a:t>
            </a:r>
          </a:p>
          <a:p>
            <a:r>
              <a:t>• "Dynamic Table refresh cadence is tunable per business SLA. For high-value accounts, you could set sub-minute lag."</a:t>
            </a:r>
          </a:p>
          <a:p>
            <a:r>
              <a:t>• "The Model Registry supports A/B versioning, so you can retrain models weekly or daily without downtime — the old version serves traffic while the new one is validated."</a:t>
            </a:r>
          </a:p>
          <a:p/>
          <a:p>
            <a:r>
              <a:t>Beyond the Demo — five production extensions:</a:t>
            </a:r>
          </a:p>
          <a:p>
            <a:r>
              <a:t>• "Real-Time Streams: Replace synthetic batch load with Snowpipe Streaming for sub-second event ingestion."</a:t>
            </a:r>
          </a:p>
          <a:p>
            <a:r>
              <a:t>• "Production Labels: Swap synthetic fraud labels for confirmed ATO cases from SOC/fraud team feedback loops. This closes the ML training loop."</a:t>
            </a:r>
          </a:p>
          <a:p>
            <a:r>
              <a:t>• "Multi-Channel Fraud: Extend the same architecture to payment fraud, wire transfer monitoring, and account opening fraud. The feature engineering patterns are reusable."</a:t>
            </a:r>
          </a:p>
          <a:p>
            <a:r>
              <a:t>• "Cross-Institution Intel: Snowflake Data Sharing enables consortium-level threat intelligence — multiple banks sharing threat signals without moving sensitive data."</a:t>
            </a:r>
          </a:p>
          <a:p>
            <a:r>
              <a:t>• "Regulatory Automation: Schedule the Cortex Agent to auto-generate SAR narratives and weekly compliance reports. This is a natural extension of the agent's 3-channel routing."</a:t>
            </a:r>
          </a:p>
          <a:p/>
          <a:p>
            <a:r>
              <a:t>Transition: "Let me close with the key takeaways."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Key Takeaways &amp; Close</a:t>
            </a:r>
          </a:p>
          <a:p/>
          <a:p>
            <a:r>
              <a:t>Delivery guidance: Reinforce the 3 strongest messages for your audience.</a:t>
            </a:r>
          </a:p>
          <a:p/>
          <a:p>
            <a:r>
              <a:t>For executives:</a:t>
            </a:r>
          </a:p>
          <a:p>
            <a:r>
              <a:t>• "Three things to take away. First: platform consolidation — what takes 5–7 tools runs on one Snowflake instance. That reduces operational complexity, licensing cost, and security surface area."</a:t>
            </a:r>
          </a:p>
          <a:p>
            <a:r>
              <a:t>• "Second: the ML is practical, not academic. Noise injection, leakage guards, and a meta-model that rejects unrealistic performance. AUC is 0.804, not 0.99 — by design."</a:t>
            </a:r>
          </a:p>
          <a:p>
            <a:r>
              <a:t>• "Third: governance is built in from the start. 24M audit records, role-based access, data masking, and an AI agent for real-time compliance queries."</a:t>
            </a:r>
          </a:p>
          <a:p/>
          <a:p>
            <a:r>
              <a:t>For technical audiences:</a:t>
            </a:r>
          </a:p>
          <a:p>
            <a:r>
              <a:t>• "The architecture is modular and extensible. Swap synthetic data for production streams, retrain with real labels, deploy the same app — the pipeline structure doesn't change."</a:t>
            </a:r>
          </a:p>
          <a:p>
            <a:r>
              <a:t>• "10 CoCo skills map 1:1 to architectural components. Each is independently testable and replaceable."</a:t>
            </a:r>
          </a:p>
          <a:p/>
          <a:p>
            <a:r>
              <a:t>Closing:</a:t>
            </a:r>
          </a:p>
          <a:p>
            <a:r>
              <a:t>• "This demonstrates Snowflake's breadth as a complete fraud intelligence platform — data, ML, semantic layer, governance, and application hosting. The days of stitching 7 tools together are over."</a:t>
            </a:r>
          </a:p>
          <a:p>
            <a:r>
              <a:t>• "Happy to dive deeper into any component."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74B"/>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l">
              <a:defRPr sz="4200" b="1">
                <a:solidFill>
                  <a:srgbClr val="FFFFFF"/>
                </a:solidFill>
                <a:latin typeface="Calibri"/>
              </a:defRPr>
            </a:pPr>
            <a:r>
              <a:t>Account Takeover Fraud Detection</a:t>
            </a:r>
          </a:p>
        </p:txBody>
      </p:sp>
      <p:sp>
        <p:nvSpPr>
          <p:cNvPr id="4" name="TextBox 3"/>
          <p:cNvSpPr txBox="1"/>
          <p:nvPr/>
        </p:nvSpPr>
        <p:spPr>
          <a:xfrm>
            <a:off x="914400" y="2743200"/>
            <a:ext cx="10058400" cy="731520"/>
          </a:xfrm>
          <a:prstGeom prst="rect">
            <a:avLst/>
          </a:prstGeom>
          <a:noFill/>
        </p:spPr>
        <p:txBody>
          <a:bodyPr wrap="square">
            <a:spAutoFit/>
          </a:bodyPr>
          <a:lstStyle/>
          <a:p>
            <a:pPr algn="l">
              <a:defRPr sz="2400" b="0">
                <a:solidFill>
                  <a:srgbClr val="29B5E8"/>
                </a:solidFill>
                <a:latin typeface="Calibri"/>
              </a:defRPr>
            </a:pPr>
            <a:r>
              <a:t>Real-Time, ML-Powered Detection on Snowflake</a:t>
            </a:r>
          </a:p>
        </p:txBody>
      </p:sp>
      <p:sp>
        <p:nvSpPr>
          <p:cNvPr id="5" name="TextBox 4"/>
          <p:cNvSpPr txBox="1"/>
          <p:nvPr/>
        </p:nvSpPr>
        <p:spPr>
          <a:xfrm>
            <a:off x="914400" y="3840480"/>
            <a:ext cx="10058400" cy="548640"/>
          </a:xfrm>
          <a:prstGeom prst="rect">
            <a:avLst/>
          </a:prstGeom>
          <a:noFill/>
        </p:spPr>
        <p:txBody>
          <a:bodyPr wrap="square">
            <a:spAutoFit/>
          </a:bodyPr>
          <a:lstStyle/>
          <a:p>
            <a:pPr algn="l">
              <a:defRPr sz="1600" b="0">
                <a:solidFill>
                  <a:srgbClr val="6B7B8D"/>
                </a:solidFill>
                <a:latin typeface="Calibri"/>
              </a:defRPr>
            </a:pPr>
            <a:r>
              <a:t>4-Layer Ensemble ML  •  Dynamic Table Pipelines  •  Cortex Agent  •  Full Governance</a:t>
            </a:r>
          </a:p>
        </p:txBody>
      </p:sp>
      <p:sp>
        <p:nvSpPr>
          <p:cNvPr id="6" name="Rectangle 5"/>
          <p:cNvSpPr/>
          <p:nvPr/>
        </p:nvSpPr>
        <p:spPr>
          <a:xfrm>
            <a:off x="914400" y="4754880"/>
            <a:ext cx="2743200"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029200"/>
            <a:ext cx="5486400" cy="457200"/>
          </a:xfrm>
          <a:prstGeom prst="rect">
            <a:avLst/>
          </a:prstGeom>
          <a:noFill/>
        </p:spPr>
        <p:txBody>
          <a:bodyPr wrap="square">
            <a:spAutoFit/>
          </a:bodyPr>
          <a:lstStyle/>
          <a:p>
            <a:pPr algn="l">
              <a:defRPr sz="1400" b="0">
                <a:solidFill>
                  <a:srgbClr val="6B7B8D"/>
                </a:solidFill>
                <a:latin typeface="Calibri"/>
              </a:defRPr>
            </a:pPr>
            <a:r>
              <a:t>Built 100% on Snowflake  |  Prototype-Ready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548640"/>
          </a:xfrm>
          <a:prstGeom prst="rect">
            <a:avLst/>
          </a:prstGeom>
          <a:noFill/>
        </p:spPr>
        <p:txBody>
          <a:bodyPr wrap="square">
            <a:spAutoFit/>
          </a:bodyPr>
          <a:lstStyle/>
          <a:p>
            <a:pPr algn="l">
              <a:defRPr sz="3200" b="1">
                <a:solidFill>
                  <a:srgbClr val="11274B"/>
                </a:solidFill>
                <a:latin typeface="Calibri"/>
              </a:defRPr>
            </a:pPr>
            <a:r>
              <a:t>The Business Problem</a:t>
            </a:r>
          </a:p>
        </p:txBody>
      </p:sp>
      <p:sp>
        <p:nvSpPr>
          <p:cNvPr id="4" name="Rectangle 3"/>
          <p:cNvSpPr/>
          <p:nvPr/>
        </p:nvSpPr>
        <p:spPr>
          <a:xfrm>
            <a:off x="731520" y="960120"/>
            <a:ext cx="2286000"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2377440" cy="10972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2377440"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2103120" cy="457200"/>
          </a:xfrm>
          <a:prstGeom prst="rect">
            <a:avLst/>
          </a:prstGeom>
          <a:noFill/>
        </p:spPr>
        <p:txBody>
          <a:bodyPr wrap="square">
            <a:spAutoFit/>
          </a:bodyPr>
          <a:lstStyle/>
          <a:p>
            <a:pPr algn="ctr">
              <a:defRPr sz="2600" b="1">
                <a:solidFill>
                  <a:srgbClr val="E83E3E"/>
                </a:solidFill>
                <a:latin typeface="Calibri"/>
              </a:defRPr>
            </a:pPr>
            <a:r>
              <a:t>$11B+</a:t>
            </a:r>
          </a:p>
        </p:txBody>
      </p:sp>
      <p:sp>
        <p:nvSpPr>
          <p:cNvPr id="8" name="TextBox 7"/>
          <p:cNvSpPr txBox="1"/>
          <p:nvPr/>
        </p:nvSpPr>
        <p:spPr>
          <a:xfrm>
            <a:off x="868680" y="2084832"/>
            <a:ext cx="2103120" cy="365760"/>
          </a:xfrm>
          <a:prstGeom prst="rect">
            <a:avLst/>
          </a:prstGeom>
          <a:noFill/>
        </p:spPr>
        <p:txBody>
          <a:bodyPr wrap="square">
            <a:spAutoFit/>
          </a:bodyPr>
          <a:lstStyle/>
          <a:p>
            <a:pPr algn="ctr">
              <a:defRPr sz="1100" b="0">
                <a:solidFill>
                  <a:srgbClr val="6B7B8D"/>
                </a:solidFill>
                <a:latin typeface="Calibri"/>
              </a:defRPr>
            </a:pPr>
            <a:r>
              <a:t>Annual US ATO Losses</a:t>
            </a:r>
          </a:p>
        </p:txBody>
      </p:sp>
      <p:sp>
        <p:nvSpPr>
          <p:cNvPr id="9" name="Rounded Rectangle 8"/>
          <p:cNvSpPr/>
          <p:nvPr/>
        </p:nvSpPr>
        <p:spPr>
          <a:xfrm>
            <a:off x="3383280" y="1371600"/>
            <a:ext cx="2377440" cy="10972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371600"/>
            <a:ext cx="2377440"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554480"/>
            <a:ext cx="2103120" cy="457200"/>
          </a:xfrm>
          <a:prstGeom prst="rect">
            <a:avLst/>
          </a:prstGeom>
          <a:noFill/>
        </p:spPr>
        <p:txBody>
          <a:bodyPr wrap="square">
            <a:spAutoFit/>
          </a:bodyPr>
          <a:lstStyle/>
          <a:p>
            <a:pPr algn="ctr">
              <a:defRPr sz="2600" b="1">
                <a:solidFill>
                  <a:srgbClr val="E83E3E"/>
                </a:solidFill>
                <a:latin typeface="Calibri"/>
              </a:defRPr>
            </a:pPr>
            <a:r>
              <a:t>$12K–$25K</a:t>
            </a:r>
          </a:p>
        </p:txBody>
      </p:sp>
      <p:sp>
        <p:nvSpPr>
          <p:cNvPr id="12" name="TextBox 11"/>
          <p:cNvSpPr txBox="1"/>
          <p:nvPr/>
        </p:nvSpPr>
        <p:spPr>
          <a:xfrm>
            <a:off x="3520440" y="2084832"/>
            <a:ext cx="2103120" cy="365760"/>
          </a:xfrm>
          <a:prstGeom prst="rect">
            <a:avLst/>
          </a:prstGeom>
          <a:noFill/>
        </p:spPr>
        <p:txBody>
          <a:bodyPr wrap="square">
            <a:spAutoFit/>
          </a:bodyPr>
          <a:lstStyle/>
          <a:p>
            <a:pPr algn="ctr">
              <a:defRPr sz="1100" b="0">
                <a:solidFill>
                  <a:srgbClr val="6B7B8D"/>
                </a:solidFill>
                <a:latin typeface="Calibri"/>
              </a:defRPr>
            </a:pPr>
            <a:r>
              <a:t>Cost per Compromised Acct</a:t>
            </a:r>
          </a:p>
        </p:txBody>
      </p:sp>
      <p:sp>
        <p:nvSpPr>
          <p:cNvPr id="13" name="Rounded Rectangle 12"/>
          <p:cNvSpPr/>
          <p:nvPr/>
        </p:nvSpPr>
        <p:spPr>
          <a:xfrm>
            <a:off x="6035040" y="1371600"/>
            <a:ext cx="2377440" cy="10972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5040" y="1371600"/>
            <a:ext cx="2377440" cy="508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1554480"/>
            <a:ext cx="2103120" cy="457200"/>
          </a:xfrm>
          <a:prstGeom prst="rect">
            <a:avLst/>
          </a:prstGeom>
          <a:noFill/>
        </p:spPr>
        <p:txBody>
          <a:bodyPr wrap="square">
            <a:spAutoFit/>
          </a:bodyPr>
          <a:lstStyle/>
          <a:p>
            <a:pPr algn="ctr">
              <a:defRPr sz="2600" b="1">
                <a:solidFill>
                  <a:srgbClr val="F5A623"/>
                </a:solidFill>
                <a:latin typeface="Calibri"/>
              </a:defRPr>
            </a:pPr>
            <a:r>
              <a:t>30–90 Days</a:t>
            </a:r>
          </a:p>
        </p:txBody>
      </p:sp>
      <p:sp>
        <p:nvSpPr>
          <p:cNvPr id="16" name="TextBox 15"/>
          <p:cNvSpPr txBox="1"/>
          <p:nvPr/>
        </p:nvSpPr>
        <p:spPr>
          <a:xfrm>
            <a:off x="6172200" y="2084832"/>
            <a:ext cx="2103120" cy="365760"/>
          </a:xfrm>
          <a:prstGeom prst="rect">
            <a:avLst/>
          </a:prstGeom>
          <a:noFill/>
        </p:spPr>
        <p:txBody>
          <a:bodyPr wrap="square">
            <a:spAutoFit/>
          </a:bodyPr>
          <a:lstStyle/>
          <a:p>
            <a:pPr algn="ctr">
              <a:defRPr sz="1100" b="0">
                <a:solidFill>
                  <a:srgbClr val="6B7B8D"/>
                </a:solidFill>
                <a:latin typeface="Calibri"/>
              </a:defRPr>
            </a:pPr>
            <a:r>
              <a:t>Avg Dwell Time</a:t>
            </a:r>
          </a:p>
        </p:txBody>
      </p:sp>
      <p:sp>
        <p:nvSpPr>
          <p:cNvPr id="17" name="Rounded Rectangle 16"/>
          <p:cNvSpPr/>
          <p:nvPr/>
        </p:nvSpPr>
        <p:spPr>
          <a:xfrm>
            <a:off x="8686800" y="1371600"/>
            <a:ext cx="2377440" cy="10972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0" y="1371600"/>
            <a:ext cx="2377440"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3960" y="1554480"/>
            <a:ext cx="2103120" cy="457200"/>
          </a:xfrm>
          <a:prstGeom prst="rect">
            <a:avLst/>
          </a:prstGeom>
          <a:noFill/>
        </p:spPr>
        <p:txBody>
          <a:bodyPr wrap="square">
            <a:spAutoFit/>
          </a:bodyPr>
          <a:lstStyle/>
          <a:p>
            <a:pPr algn="ctr">
              <a:defRPr sz="2600" b="1">
                <a:solidFill>
                  <a:srgbClr val="E83E3E"/>
                </a:solidFill>
                <a:latin typeface="Calibri"/>
              </a:defRPr>
            </a:pPr>
            <a:r>
              <a:t>354%</a:t>
            </a:r>
          </a:p>
        </p:txBody>
      </p:sp>
      <p:sp>
        <p:nvSpPr>
          <p:cNvPr id="20" name="TextBox 19"/>
          <p:cNvSpPr txBox="1"/>
          <p:nvPr/>
        </p:nvSpPr>
        <p:spPr>
          <a:xfrm>
            <a:off x="8823960" y="2084832"/>
            <a:ext cx="2103120" cy="365760"/>
          </a:xfrm>
          <a:prstGeom prst="rect">
            <a:avLst/>
          </a:prstGeom>
          <a:noFill/>
        </p:spPr>
        <p:txBody>
          <a:bodyPr wrap="square">
            <a:spAutoFit/>
          </a:bodyPr>
          <a:lstStyle/>
          <a:p>
            <a:pPr algn="ctr">
              <a:defRPr sz="1100" b="0">
                <a:solidFill>
                  <a:srgbClr val="6B7B8D"/>
                </a:solidFill>
                <a:latin typeface="Calibri"/>
              </a:defRPr>
            </a:pPr>
            <a:r>
              <a:t>YoY Attack Growth</a:t>
            </a:r>
          </a:p>
        </p:txBody>
      </p:sp>
      <p:sp>
        <p:nvSpPr>
          <p:cNvPr id="21" name="TextBox 20"/>
          <p:cNvSpPr txBox="1"/>
          <p:nvPr/>
        </p:nvSpPr>
        <p:spPr>
          <a:xfrm>
            <a:off x="731520" y="2834640"/>
            <a:ext cx="10515600" cy="365760"/>
          </a:xfrm>
          <a:prstGeom prst="rect">
            <a:avLst/>
          </a:prstGeom>
          <a:noFill/>
        </p:spPr>
        <p:txBody>
          <a:bodyPr wrap="square">
            <a:spAutoFit/>
          </a:bodyPr>
          <a:lstStyle/>
          <a:p>
            <a:pPr algn="l">
              <a:defRPr sz="2000" b="1">
                <a:solidFill>
                  <a:srgbClr val="11274B"/>
                </a:solidFill>
                <a:latin typeface="Calibri"/>
              </a:defRPr>
            </a:pPr>
            <a:r>
              <a:t>Why Traditional Approaches Fail</a:t>
            </a:r>
          </a:p>
          <a:p>
            <a:pPr algn="l">
              <a:spcBef>
                <a:spcPts val="1000"/>
              </a:spcBef>
              <a:defRPr sz="1400" b="0">
                <a:solidFill>
                  <a:srgbClr val="1A1A2E"/>
                </a:solidFill>
                <a:latin typeface="Calibri"/>
              </a:defRPr>
              <a:buSzPct val="100000"/>
              <a:buClr>
                <a:srgbClr val="29B5E8"/>
              </a:buClr>
              <a:buChar char="•"/>
            </a:pPr>
            <a:r>
              <a:t>Static rule-based systems — generate excessive false positives and miss novel attack patterns; credential stuffing, SIM-swaps, and bot automation evolve faster than rules can be written</a:t>
            </a:r>
          </a:p>
          <a:p>
            <a:pPr algn="l">
              <a:spcBef>
                <a:spcPts val="1000"/>
              </a:spcBef>
              <a:defRPr sz="1400" b="0">
                <a:solidFill>
                  <a:srgbClr val="1A1A2E"/>
                </a:solidFill>
                <a:latin typeface="Calibri"/>
              </a:defRPr>
              <a:buSzPct val="100000"/>
              <a:buClr>
                <a:srgbClr val="29B5E8"/>
              </a:buClr>
              <a:buChar char="•"/>
            </a:pPr>
            <a:r>
              <a:t>Batch processing delays — fraud discovered hours or days after compromise; attackers operate inside accounts for 30–90 days before detection</a:t>
            </a:r>
          </a:p>
          <a:p>
            <a:pPr algn="l">
              <a:spcBef>
                <a:spcPts val="1000"/>
              </a:spcBef>
              <a:defRPr sz="1400" b="0">
                <a:solidFill>
                  <a:srgbClr val="1A1A2E"/>
                </a:solidFill>
                <a:latin typeface="Calibri"/>
              </a:defRPr>
              <a:buSzPct val="100000"/>
              <a:buClr>
                <a:srgbClr val="29B5E8"/>
              </a:buClr>
              <a:buChar char="•"/>
            </a:pPr>
            <a:r>
              <a:t>Siloed data and tools — fragment the fraud signal across 5–7 platforms; identity, device, behavioral, and threat intel data never converge for holistic scoring</a:t>
            </a:r>
          </a:p>
          <a:p>
            <a:pPr algn="l">
              <a:spcBef>
                <a:spcPts val="1000"/>
              </a:spcBef>
              <a:defRPr sz="1400" b="0">
                <a:solidFill>
                  <a:srgbClr val="1A1A2E"/>
                </a:solidFill>
                <a:latin typeface="Calibri"/>
              </a:defRPr>
              <a:buSzPct val="100000"/>
              <a:buClr>
                <a:srgbClr val="29B5E8"/>
              </a:buClr>
              <a:buChar char="•"/>
            </a:pPr>
            <a:r>
              <a:t>Regulatory pressure mounting — FTC Safeguards Rule, CFPB MFA Circular, FinCEN AML/CDD, and FFIEC Authentication Guidance mandate real-time controls with auditable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548640"/>
          </a:xfrm>
          <a:prstGeom prst="rect">
            <a:avLst/>
          </a:prstGeom>
          <a:noFill/>
        </p:spPr>
        <p:txBody>
          <a:bodyPr wrap="square">
            <a:spAutoFit/>
          </a:bodyPr>
          <a:lstStyle/>
          <a:p>
            <a:pPr algn="l">
              <a:defRPr sz="3200" b="1">
                <a:solidFill>
                  <a:srgbClr val="11274B"/>
                </a:solidFill>
                <a:latin typeface="Calibri"/>
              </a:defRPr>
            </a:pPr>
            <a:r>
              <a:t>Who Is This For?</a:t>
            </a:r>
          </a:p>
        </p:txBody>
      </p:sp>
      <p:sp>
        <p:nvSpPr>
          <p:cNvPr id="4" name="Rectangle 3"/>
          <p:cNvSpPr/>
          <p:nvPr/>
        </p:nvSpPr>
        <p:spPr>
          <a:xfrm>
            <a:off x="731520" y="960120"/>
            <a:ext cx="2286000"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554480"/>
            <a:ext cx="20116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554480"/>
            <a:ext cx="2011680" cy="635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7280" y="1920240"/>
            <a:ext cx="731520" cy="731520"/>
          </a:xfrm>
          <a:prstGeom prst="ellipse">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11680"/>
            <a:ext cx="731520" cy="640080"/>
          </a:xfrm>
          <a:prstGeom prst="rect">
            <a:avLst/>
          </a:prstGeom>
          <a:noFill/>
        </p:spPr>
        <p:txBody>
          <a:bodyPr wrap="square">
            <a:spAutoFit/>
          </a:bodyPr>
          <a:lstStyle/>
          <a:p>
            <a:pPr algn="ctr">
              <a:defRPr sz="2800" b="1">
                <a:solidFill>
                  <a:srgbClr val="FFFFFF"/>
                </a:solidFill>
                <a:latin typeface="Calibri"/>
              </a:defRPr>
            </a:pPr>
            <a:r>
              <a:t>F</a:t>
            </a:r>
          </a:p>
        </p:txBody>
      </p:sp>
      <p:sp>
        <p:nvSpPr>
          <p:cNvPr id="9" name="TextBox 8"/>
          <p:cNvSpPr txBox="1"/>
          <p:nvPr/>
        </p:nvSpPr>
        <p:spPr>
          <a:xfrm>
            <a:off x="594360" y="2834640"/>
            <a:ext cx="1737360" cy="640080"/>
          </a:xfrm>
          <a:prstGeom prst="rect">
            <a:avLst/>
          </a:prstGeom>
          <a:noFill/>
        </p:spPr>
        <p:txBody>
          <a:bodyPr wrap="square">
            <a:spAutoFit/>
          </a:bodyPr>
          <a:lstStyle/>
          <a:p>
            <a:pPr algn="ctr">
              <a:defRPr sz="1300" b="1">
                <a:solidFill>
                  <a:srgbClr val="11274B"/>
                </a:solidFill>
                <a:latin typeface="Calibri"/>
              </a:defRPr>
            </a:pPr>
            <a:r>
              <a:t>Fraud Ops Lead</a:t>
            </a:r>
          </a:p>
        </p:txBody>
      </p:sp>
      <p:sp>
        <p:nvSpPr>
          <p:cNvPr id="10" name="TextBox 9"/>
          <p:cNvSpPr txBox="1"/>
          <p:nvPr/>
        </p:nvSpPr>
        <p:spPr>
          <a:xfrm>
            <a:off x="594360" y="3383280"/>
            <a:ext cx="1737360" cy="2011680"/>
          </a:xfrm>
          <a:prstGeom prst="rect">
            <a:avLst/>
          </a:prstGeom>
          <a:noFill/>
        </p:spPr>
        <p:txBody>
          <a:bodyPr wrap="square">
            <a:spAutoFit/>
          </a:bodyPr>
          <a:lstStyle/>
          <a:p>
            <a:pPr algn="ctr">
              <a:defRPr sz="1100" b="0">
                <a:solidFill>
                  <a:srgbClr val="6B7B8D"/>
                </a:solidFill>
                <a:latin typeface="Calibri"/>
              </a:defRPr>
            </a:pPr>
            <a:r>
              <a:t>Runs day-to-day fraud prevention.</a:t>
            </a:r>
            <a:br/>
            <a:r>
              <a:t>Needs real-time risk scoring, tiered</a:t>
            </a:r>
            <a:br/>
            <a:r>
              <a:t>decisioning, and tunable policy rules.</a:t>
            </a:r>
          </a:p>
        </p:txBody>
      </p:sp>
      <p:sp>
        <p:nvSpPr>
          <p:cNvPr id="11" name="Rounded Rectangle 10"/>
          <p:cNvSpPr/>
          <p:nvPr/>
        </p:nvSpPr>
        <p:spPr>
          <a:xfrm>
            <a:off x="2651760" y="1554480"/>
            <a:ext cx="20116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51760" y="1554480"/>
            <a:ext cx="2011680" cy="63500"/>
          </a:xfrm>
          <a:prstGeom prst="rect">
            <a:avLst/>
          </a:prstGeom>
          <a:solidFill>
            <a:srgbClr val="007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291840" y="1920240"/>
            <a:ext cx="731520" cy="731520"/>
          </a:xfrm>
          <a:prstGeom prst="ellipse">
            <a:avLst/>
          </a:prstGeom>
          <a:solidFill>
            <a:srgbClr val="007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2011680"/>
            <a:ext cx="731520" cy="640080"/>
          </a:xfrm>
          <a:prstGeom prst="rect">
            <a:avLst/>
          </a:prstGeom>
          <a:noFill/>
        </p:spPr>
        <p:txBody>
          <a:bodyPr wrap="square">
            <a:spAutoFit/>
          </a:bodyPr>
          <a:lstStyle/>
          <a:p>
            <a:pPr algn="ctr">
              <a:defRPr sz="2800" b="1">
                <a:solidFill>
                  <a:srgbClr val="FFFFFF"/>
                </a:solidFill>
                <a:latin typeface="Calibri"/>
              </a:defRPr>
            </a:pPr>
            <a:r>
              <a:t>F</a:t>
            </a:r>
          </a:p>
        </p:txBody>
      </p:sp>
      <p:sp>
        <p:nvSpPr>
          <p:cNvPr id="15" name="TextBox 14"/>
          <p:cNvSpPr txBox="1"/>
          <p:nvPr/>
        </p:nvSpPr>
        <p:spPr>
          <a:xfrm>
            <a:off x="2788920" y="2834640"/>
            <a:ext cx="1737360" cy="640080"/>
          </a:xfrm>
          <a:prstGeom prst="rect">
            <a:avLst/>
          </a:prstGeom>
          <a:noFill/>
        </p:spPr>
        <p:txBody>
          <a:bodyPr wrap="square">
            <a:spAutoFit/>
          </a:bodyPr>
          <a:lstStyle/>
          <a:p>
            <a:pPr algn="ctr">
              <a:defRPr sz="1300" b="1">
                <a:solidFill>
                  <a:srgbClr val="11274B"/>
                </a:solidFill>
                <a:latin typeface="Calibri"/>
              </a:defRPr>
            </a:pPr>
            <a:r>
              <a:t>Fraud Analyst</a:t>
            </a:r>
          </a:p>
        </p:txBody>
      </p:sp>
      <p:sp>
        <p:nvSpPr>
          <p:cNvPr id="16" name="TextBox 15"/>
          <p:cNvSpPr txBox="1"/>
          <p:nvPr/>
        </p:nvSpPr>
        <p:spPr>
          <a:xfrm>
            <a:off x="2788920" y="3383280"/>
            <a:ext cx="1737360" cy="2011680"/>
          </a:xfrm>
          <a:prstGeom prst="rect">
            <a:avLst/>
          </a:prstGeom>
          <a:noFill/>
        </p:spPr>
        <p:txBody>
          <a:bodyPr wrap="square">
            <a:spAutoFit/>
          </a:bodyPr>
          <a:lstStyle/>
          <a:p>
            <a:pPr algn="ctr">
              <a:defRPr sz="1100" b="0">
                <a:solidFill>
                  <a:srgbClr val="6B7B8D"/>
                </a:solidFill>
                <a:latin typeface="Calibri"/>
              </a:defRPr>
            </a:pPr>
            <a:r>
              <a:t>Triages alerts and investigates cases.</a:t>
            </a:r>
            <a:br/>
            <a:r>
              <a:t>Needs deep-dive context: identity graph,</a:t>
            </a:r>
            <a:br/>
            <a:r>
              <a:t>device history, behavioral biometrics.</a:t>
            </a:r>
          </a:p>
        </p:txBody>
      </p:sp>
      <p:sp>
        <p:nvSpPr>
          <p:cNvPr id="17" name="Rounded Rectangle 16"/>
          <p:cNvSpPr/>
          <p:nvPr/>
        </p:nvSpPr>
        <p:spPr>
          <a:xfrm>
            <a:off x="4846320" y="1554480"/>
            <a:ext cx="20116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46320" y="1554480"/>
            <a:ext cx="2011680" cy="63500"/>
          </a:xfrm>
          <a:prstGeom prst="rect">
            <a:avLst/>
          </a:prstGeom>
          <a:solidFill>
            <a:srgbClr val="11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486400" y="1920240"/>
            <a:ext cx="731520" cy="731520"/>
          </a:xfrm>
          <a:prstGeom prst="ellipse">
            <a:avLst/>
          </a:prstGeom>
          <a:solidFill>
            <a:srgbClr val="11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0" y="2011680"/>
            <a:ext cx="731520" cy="640080"/>
          </a:xfrm>
          <a:prstGeom prst="rect">
            <a:avLst/>
          </a:prstGeom>
          <a:noFill/>
        </p:spPr>
        <p:txBody>
          <a:bodyPr wrap="square">
            <a:spAutoFit/>
          </a:bodyPr>
          <a:lstStyle/>
          <a:p>
            <a:pPr algn="ctr">
              <a:defRPr sz="2800" b="1">
                <a:solidFill>
                  <a:srgbClr val="FFFFFF"/>
                </a:solidFill>
                <a:latin typeface="Calibri"/>
              </a:defRPr>
            </a:pPr>
            <a:r>
              <a:t>C</a:t>
            </a:r>
          </a:p>
        </p:txBody>
      </p:sp>
      <p:sp>
        <p:nvSpPr>
          <p:cNvPr id="21" name="TextBox 20"/>
          <p:cNvSpPr txBox="1"/>
          <p:nvPr/>
        </p:nvSpPr>
        <p:spPr>
          <a:xfrm>
            <a:off x="4983480" y="2834640"/>
            <a:ext cx="1737360" cy="640080"/>
          </a:xfrm>
          <a:prstGeom prst="rect">
            <a:avLst/>
          </a:prstGeom>
          <a:noFill/>
        </p:spPr>
        <p:txBody>
          <a:bodyPr wrap="square">
            <a:spAutoFit/>
          </a:bodyPr>
          <a:lstStyle/>
          <a:p>
            <a:pPr algn="ctr">
              <a:defRPr sz="1300" b="1">
                <a:solidFill>
                  <a:srgbClr val="11274B"/>
                </a:solidFill>
                <a:latin typeface="Calibri"/>
              </a:defRPr>
            </a:pPr>
            <a:r>
              <a:t>CISO / Risk Exec</a:t>
            </a:r>
          </a:p>
        </p:txBody>
      </p:sp>
      <p:sp>
        <p:nvSpPr>
          <p:cNvPr id="22" name="TextBox 21"/>
          <p:cNvSpPr txBox="1"/>
          <p:nvPr/>
        </p:nvSpPr>
        <p:spPr>
          <a:xfrm>
            <a:off x="4983480" y="3383280"/>
            <a:ext cx="1737360" cy="2011680"/>
          </a:xfrm>
          <a:prstGeom prst="rect">
            <a:avLst/>
          </a:prstGeom>
          <a:noFill/>
        </p:spPr>
        <p:txBody>
          <a:bodyPr wrap="square">
            <a:spAutoFit/>
          </a:bodyPr>
          <a:lstStyle/>
          <a:p>
            <a:pPr algn="ctr">
              <a:defRPr sz="1100" b="0">
                <a:solidFill>
                  <a:srgbClr val="6B7B8D"/>
                </a:solidFill>
                <a:latin typeface="Calibri"/>
              </a:defRPr>
            </a:pPr>
            <a:r>
              <a:t>Owns fraud risk at the board level.</a:t>
            </a:r>
            <a:br/>
            <a:r>
              <a:t>Needs executive dashboards, model</a:t>
            </a:r>
            <a:br/>
            <a:r>
              <a:t>performance KPIs, compliance posture.</a:t>
            </a:r>
          </a:p>
        </p:txBody>
      </p:sp>
      <p:sp>
        <p:nvSpPr>
          <p:cNvPr id="23" name="Rounded Rectangle 22"/>
          <p:cNvSpPr/>
          <p:nvPr/>
        </p:nvSpPr>
        <p:spPr>
          <a:xfrm>
            <a:off x="7040880" y="1554480"/>
            <a:ext cx="20116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80" y="1554480"/>
            <a:ext cx="2011680" cy="635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680960" y="1920240"/>
            <a:ext cx="731520" cy="731520"/>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0" y="2011680"/>
            <a:ext cx="731520" cy="640080"/>
          </a:xfrm>
          <a:prstGeom prst="rect">
            <a:avLst/>
          </a:prstGeom>
          <a:noFill/>
        </p:spPr>
        <p:txBody>
          <a:bodyPr wrap="square">
            <a:spAutoFit/>
          </a:bodyPr>
          <a:lstStyle/>
          <a:p>
            <a:pPr algn="ctr">
              <a:defRPr sz="2800" b="1">
                <a:solidFill>
                  <a:srgbClr val="FFFFFF"/>
                </a:solidFill>
                <a:latin typeface="Calibri"/>
              </a:defRPr>
            </a:pPr>
            <a:r>
              <a:t>C</a:t>
            </a:r>
          </a:p>
        </p:txBody>
      </p:sp>
      <p:sp>
        <p:nvSpPr>
          <p:cNvPr id="27" name="TextBox 26"/>
          <p:cNvSpPr txBox="1"/>
          <p:nvPr/>
        </p:nvSpPr>
        <p:spPr>
          <a:xfrm>
            <a:off x="7178040" y="2834640"/>
            <a:ext cx="1737360" cy="640080"/>
          </a:xfrm>
          <a:prstGeom prst="rect">
            <a:avLst/>
          </a:prstGeom>
          <a:noFill/>
        </p:spPr>
        <p:txBody>
          <a:bodyPr wrap="square">
            <a:spAutoFit/>
          </a:bodyPr>
          <a:lstStyle/>
          <a:p>
            <a:pPr algn="ctr">
              <a:defRPr sz="1300" b="1">
                <a:solidFill>
                  <a:srgbClr val="11274B"/>
                </a:solidFill>
                <a:latin typeface="Calibri"/>
              </a:defRPr>
            </a:pPr>
            <a:r>
              <a:t>Compliance Officer</a:t>
            </a:r>
          </a:p>
        </p:txBody>
      </p:sp>
      <p:sp>
        <p:nvSpPr>
          <p:cNvPr id="28" name="TextBox 27"/>
          <p:cNvSpPr txBox="1"/>
          <p:nvPr/>
        </p:nvSpPr>
        <p:spPr>
          <a:xfrm>
            <a:off x="7178040" y="3383280"/>
            <a:ext cx="1737360" cy="2011680"/>
          </a:xfrm>
          <a:prstGeom prst="rect">
            <a:avLst/>
          </a:prstGeom>
          <a:noFill/>
        </p:spPr>
        <p:txBody>
          <a:bodyPr wrap="square">
            <a:spAutoFit/>
          </a:bodyPr>
          <a:lstStyle/>
          <a:p>
            <a:pPr algn="ctr">
              <a:defRPr sz="1100" b="0">
                <a:solidFill>
                  <a:srgbClr val="6B7B8D"/>
                </a:solidFill>
                <a:latin typeface="Calibri"/>
              </a:defRPr>
            </a:pPr>
            <a:r>
              <a:t>Proves controls meet regulatory mandates.</a:t>
            </a:r>
            <a:br/>
            <a:r>
              <a:t>Needs audit trails (24M+ evaluations),</a:t>
            </a:r>
            <a:br/>
            <a:r>
              <a:t>masking controls, regulatory lookup.</a:t>
            </a:r>
          </a:p>
        </p:txBody>
      </p:sp>
      <p:sp>
        <p:nvSpPr>
          <p:cNvPr id="29" name="Rounded Rectangle 28"/>
          <p:cNvSpPr/>
          <p:nvPr/>
        </p:nvSpPr>
        <p:spPr>
          <a:xfrm>
            <a:off x="9235440" y="1554480"/>
            <a:ext cx="20116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35440" y="1554480"/>
            <a:ext cx="2011680" cy="635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875520" y="1920240"/>
            <a:ext cx="731520" cy="73152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75520" y="2011680"/>
            <a:ext cx="731520" cy="640080"/>
          </a:xfrm>
          <a:prstGeom prst="rect">
            <a:avLst/>
          </a:prstGeom>
          <a:noFill/>
        </p:spPr>
        <p:txBody>
          <a:bodyPr wrap="square">
            <a:spAutoFit/>
          </a:bodyPr>
          <a:lstStyle/>
          <a:p>
            <a:pPr algn="ctr">
              <a:defRPr sz="2800" b="1">
                <a:solidFill>
                  <a:srgbClr val="FFFFFF"/>
                </a:solidFill>
                <a:latin typeface="Calibri"/>
              </a:defRPr>
            </a:pPr>
            <a:r>
              <a:t>D</a:t>
            </a:r>
          </a:p>
        </p:txBody>
      </p:sp>
      <p:sp>
        <p:nvSpPr>
          <p:cNvPr id="33" name="TextBox 32"/>
          <p:cNvSpPr txBox="1"/>
          <p:nvPr/>
        </p:nvSpPr>
        <p:spPr>
          <a:xfrm>
            <a:off x="9372600" y="2834640"/>
            <a:ext cx="1737360" cy="640080"/>
          </a:xfrm>
          <a:prstGeom prst="rect">
            <a:avLst/>
          </a:prstGeom>
          <a:noFill/>
        </p:spPr>
        <p:txBody>
          <a:bodyPr wrap="square">
            <a:spAutoFit/>
          </a:bodyPr>
          <a:lstStyle/>
          <a:p>
            <a:pPr algn="ctr">
              <a:defRPr sz="1300" b="1">
                <a:solidFill>
                  <a:srgbClr val="11274B"/>
                </a:solidFill>
                <a:latin typeface="Calibri"/>
              </a:defRPr>
            </a:pPr>
            <a:r>
              <a:t>Data / ML Engineer</a:t>
            </a:r>
          </a:p>
        </p:txBody>
      </p:sp>
      <p:sp>
        <p:nvSpPr>
          <p:cNvPr id="34" name="TextBox 33"/>
          <p:cNvSpPr txBox="1"/>
          <p:nvPr/>
        </p:nvSpPr>
        <p:spPr>
          <a:xfrm>
            <a:off x="9372600" y="3383280"/>
            <a:ext cx="1737360" cy="2011680"/>
          </a:xfrm>
          <a:prstGeom prst="rect">
            <a:avLst/>
          </a:prstGeom>
          <a:noFill/>
        </p:spPr>
        <p:txBody>
          <a:bodyPr wrap="square">
            <a:spAutoFit/>
          </a:bodyPr>
          <a:lstStyle/>
          <a:p>
            <a:pPr algn="ctr">
              <a:defRPr sz="1100" b="0">
                <a:solidFill>
                  <a:srgbClr val="6B7B8D"/>
                </a:solidFill>
                <a:latin typeface="Calibri"/>
              </a:defRPr>
            </a:pPr>
            <a:r>
              <a:t>Builds and maintains detection pipeline.</a:t>
            </a:r>
            <a:br/>
            <a:r>
              <a:t>Needs model registry, feature pipelines,</a:t>
            </a:r>
            <a:br/>
            <a:r>
              <a:t>leakage guards, retraining workflows.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548640"/>
          </a:xfrm>
          <a:prstGeom prst="rect">
            <a:avLst/>
          </a:prstGeom>
          <a:noFill/>
        </p:spPr>
        <p:txBody>
          <a:bodyPr wrap="square">
            <a:spAutoFit/>
          </a:bodyPr>
          <a:lstStyle/>
          <a:p>
            <a:pPr algn="l">
              <a:defRPr sz="3200" b="1">
                <a:solidFill>
                  <a:srgbClr val="11274B"/>
                </a:solidFill>
                <a:latin typeface="Calibri"/>
              </a:defRPr>
            </a:pPr>
            <a:r>
              <a:t>From Pain Points to Platform</a:t>
            </a:r>
          </a:p>
        </p:txBody>
      </p:sp>
      <p:sp>
        <p:nvSpPr>
          <p:cNvPr id="4" name="Rectangle 3"/>
          <p:cNvSpPr/>
          <p:nvPr/>
        </p:nvSpPr>
        <p:spPr>
          <a:xfrm>
            <a:off x="731520" y="960120"/>
            <a:ext cx="2286000"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34440"/>
            <a:ext cx="5029200" cy="502920"/>
          </a:xfrm>
          <a:prstGeom prst="rect">
            <a:avLst/>
          </a:prstGeom>
          <a:solidFill>
            <a:srgbClr val="11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52728"/>
            <a:ext cx="4846320" cy="457200"/>
          </a:xfrm>
          <a:prstGeom prst="rect">
            <a:avLst/>
          </a:prstGeom>
          <a:noFill/>
        </p:spPr>
        <p:txBody>
          <a:bodyPr wrap="square">
            <a:spAutoFit/>
          </a:bodyPr>
          <a:lstStyle/>
          <a:p>
            <a:pPr algn="l">
              <a:defRPr sz="1500" b="1">
                <a:solidFill>
                  <a:srgbClr val="FFFFFF"/>
                </a:solidFill>
                <a:latin typeface="Calibri"/>
              </a:defRPr>
            </a:pPr>
            <a:r>
              <a:t>Current Pain Point</a:t>
            </a:r>
          </a:p>
        </p:txBody>
      </p:sp>
      <p:sp>
        <p:nvSpPr>
          <p:cNvPr id="7" name="Rectangle 6"/>
          <p:cNvSpPr/>
          <p:nvPr/>
        </p:nvSpPr>
        <p:spPr>
          <a:xfrm>
            <a:off x="5760720" y="1234440"/>
            <a:ext cx="5760720" cy="50292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0" y="1252728"/>
            <a:ext cx="5577840" cy="457200"/>
          </a:xfrm>
          <a:prstGeom prst="rect">
            <a:avLst/>
          </a:prstGeom>
          <a:noFill/>
        </p:spPr>
        <p:txBody>
          <a:bodyPr wrap="square">
            <a:spAutoFit/>
          </a:bodyPr>
          <a:lstStyle/>
          <a:p>
            <a:pPr algn="l">
              <a:defRPr sz="1500" b="1">
                <a:solidFill>
                  <a:srgbClr val="FFFFFF"/>
                </a:solidFill>
                <a:latin typeface="Calibri"/>
              </a:defRPr>
            </a:pPr>
            <a:r>
              <a:t>How This Solution Solves It</a:t>
            </a:r>
          </a:p>
        </p:txBody>
      </p:sp>
      <p:sp>
        <p:nvSpPr>
          <p:cNvPr id="9" name="Rounded Rectangle 8"/>
          <p:cNvSpPr/>
          <p:nvPr/>
        </p:nvSpPr>
        <p:spPr>
          <a:xfrm>
            <a:off x="548640" y="1874519"/>
            <a:ext cx="5029200" cy="7772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760720" y="1874519"/>
            <a:ext cx="5760720" cy="7772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47671"/>
            <a:ext cx="4663440" cy="777240"/>
          </a:xfrm>
          <a:prstGeom prst="rect">
            <a:avLst/>
          </a:prstGeom>
          <a:noFill/>
        </p:spPr>
        <p:txBody>
          <a:bodyPr wrap="square">
            <a:spAutoFit/>
          </a:bodyPr>
          <a:lstStyle/>
          <a:p>
            <a:pPr algn="l">
              <a:defRPr sz="1100" b="0">
                <a:solidFill>
                  <a:srgbClr val="E83E3E"/>
                </a:solidFill>
                <a:latin typeface="Calibri"/>
              </a:defRPr>
            </a:pPr>
            <a:r>
              <a:t>Static rule-only systems miss novel attacks</a:t>
            </a:r>
            <a:br/>
            <a:r>
              <a:t>and generate excessive false positives</a:t>
            </a:r>
          </a:p>
        </p:txBody>
      </p:sp>
      <p:sp>
        <p:nvSpPr>
          <p:cNvPr id="12" name="TextBox 11"/>
          <p:cNvSpPr txBox="1"/>
          <p:nvPr/>
        </p:nvSpPr>
        <p:spPr>
          <a:xfrm>
            <a:off x="5943600" y="1947671"/>
            <a:ext cx="5394960" cy="777240"/>
          </a:xfrm>
          <a:prstGeom prst="rect">
            <a:avLst/>
          </a:prstGeom>
          <a:noFill/>
        </p:spPr>
        <p:txBody>
          <a:bodyPr wrap="square">
            <a:spAutoFit/>
          </a:bodyPr>
          <a:lstStyle/>
          <a:p>
            <a:pPr algn="l">
              <a:defRPr sz="1100" b="0">
                <a:solidFill>
                  <a:srgbClr val="1A1A2E"/>
                </a:solidFill>
                <a:latin typeface="Calibri"/>
              </a:defRPr>
            </a:pPr>
            <a:r>
              <a:t>4-layer ML ensemble (XGBoost + Isolation Forest</a:t>
            </a:r>
            <a:br/>
            <a:r>
              <a:t>+ Graph Topology + Meta-Model) catches known</a:t>
            </a:r>
            <a:br/>
            <a:r>
              <a:t>and zero-day patterns with calibrated 0–1000 scores</a:t>
            </a:r>
          </a:p>
        </p:txBody>
      </p:sp>
      <p:sp>
        <p:nvSpPr>
          <p:cNvPr id="13" name="Rounded Rectangle 12"/>
          <p:cNvSpPr/>
          <p:nvPr/>
        </p:nvSpPr>
        <p:spPr>
          <a:xfrm>
            <a:off x="548640" y="2697479"/>
            <a:ext cx="502920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760720" y="2697479"/>
            <a:ext cx="57607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770631"/>
            <a:ext cx="4663440" cy="777240"/>
          </a:xfrm>
          <a:prstGeom prst="rect">
            <a:avLst/>
          </a:prstGeom>
          <a:noFill/>
        </p:spPr>
        <p:txBody>
          <a:bodyPr wrap="square">
            <a:spAutoFit/>
          </a:bodyPr>
          <a:lstStyle/>
          <a:p>
            <a:pPr algn="l">
              <a:defRPr sz="1100" b="0">
                <a:solidFill>
                  <a:srgbClr val="E83E3E"/>
                </a:solidFill>
                <a:latin typeface="Calibri"/>
              </a:defRPr>
            </a:pPr>
            <a:r>
              <a:t>Batch processing — fraud discovered</a:t>
            </a:r>
            <a:br/>
            <a:r>
              <a:t>hours or days after compromise</a:t>
            </a:r>
          </a:p>
        </p:txBody>
      </p:sp>
      <p:sp>
        <p:nvSpPr>
          <p:cNvPr id="16" name="TextBox 15"/>
          <p:cNvSpPr txBox="1"/>
          <p:nvPr/>
        </p:nvSpPr>
        <p:spPr>
          <a:xfrm>
            <a:off x="5943600" y="2770631"/>
            <a:ext cx="5394960" cy="777240"/>
          </a:xfrm>
          <a:prstGeom prst="rect">
            <a:avLst/>
          </a:prstGeom>
          <a:noFill/>
        </p:spPr>
        <p:txBody>
          <a:bodyPr wrap="square">
            <a:spAutoFit/>
          </a:bodyPr>
          <a:lstStyle/>
          <a:p>
            <a:pPr algn="l">
              <a:defRPr sz="1100" b="0">
                <a:solidFill>
                  <a:srgbClr val="1A1A2E"/>
                </a:solidFill>
                <a:latin typeface="Calibri"/>
              </a:defRPr>
            </a:pPr>
            <a:r>
              <a:t>Real-time Dynamic Tables with 1-minute lag</a:t>
            </a:r>
            <a:br/>
            <a:r>
              <a:t>continuously compute velocity, geo-anomaly,</a:t>
            </a:r>
            <a:br/>
            <a:r>
              <a:t>behavioral, and threat intel features</a:t>
            </a:r>
          </a:p>
        </p:txBody>
      </p:sp>
      <p:sp>
        <p:nvSpPr>
          <p:cNvPr id="17" name="Rounded Rectangle 16"/>
          <p:cNvSpPr/>
          <p:nvPr/>
        </p:nvSpPr>
        <p:spPr>
          <a:xfrm>
            <a:off x="548640" y="3520439"/>
            <a:ext cx="5029200" cy="7772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760720" y="3520439"/>
            <a:ext cx="5760720" cy="7772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593591"/>
            <a:ext cx="4663440" cy="777240"/>
          </a:xfrm>
          <a:prstGeom prst="rect">
            <a:avLst/>
          </a:prstGeom>
          <a:noFill/>
        </p:spPr>
        <p:txBody>
          <a:bodyPr wrap="square">
            <a:spAutoFit/>
          </a:bodyPr>
          <a:lstStyle/>
          <a:p>
            <a:pPr algn="l">
              <a:defRPr sz="1100" b="0">
                <a:solidFill>
                  <a:srgbClr val="E83E3E"/>
                </a:solidFill>
                <a:latin typeface="Calibri"/>
              </a:defRPr>
            </a:pPr>
            <a:r>
              <a:t>Alert fatigue — analysts waste time</a:t>
            </a:r>
            <a:br/>
            <a:r>
              <a:t>on false positives, miss real fraud</a:t>
            </a:r>
          </a:p>
        </p:txBody>
      </p:sp>
      <p:sp>
        <p:nvSpPr>
          <p:cNvPr id="20" name="TextBox 19"/>
          <p:cNvSpPr txBox="1"/>
          <p:nvPr/>
        </p:nvSpPr>
        <p:spPr>
          <a:xfrm>
            <a:off x="5943600" y="3593591"/>
            <a:ext cx="5394960" cy="777240"/>
          </a:xfrm>
          <a:prstGeom prst="rect">
            <a:avLst/>
          </a:prstGeom>
          <a:noFill/>
        </p:spPr>
        <p:txBody>
          <a:bodyPr wrap="square">
            <a:spAutoFit/>
          </a:bodyPr>
          <a:lstStyle/>
          <a:p>
            <a:pPr algn="l">
              <a:defRPr sz="1100" b="0">
                <a:solidFill>
                  <a:srgbClr val="1A1A2E"/>
                </a:solidFill>
                <a:latin typeface="Calibri"/>
              </a:defRPr>
            </a:pPr>
            <a:r>
              <a:t>Tiered decisioning (SAFE / STEP-UP / BLOCK)</a:t>
            </a:r>
            <a:br/>
            <a:r>
              <a:t>with 30 tunable policy rules routes only</a:t>
            </a:r>
            <a:br/>
            <a:r>
              <a:t>high-confidence cases to human review</a:t>
            </a:r>
          </a:p>
        </p:txBody>
      </p:sp>
      <p:sp>
        <p:nvSpPr>
          <p:cNvPr id="21" name="Rounded Rectangle 20"/>
          <p:cNvSpPr/>
          <p:nvPr/>
        </p:nvSpPr>
        <p:spPr>
          <a:xfrm>
            <a:off x="548640" y="4343399"/>
            <a:ext cx="502920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760720" y="4343399"/>
            <a:ext cx="57607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416551"/>
            <a:ext cx="4663440" cy="777240"/>
          </a:xfrm>
          <a:prstGeom prst="rect">
            <a:avLst/>
          </a:prstGeom>
          <a:noFill/>
        </p:spPr>
        <p:txBody>
          <a:bodyPr wrap="square">
            <a:spAutoFit/>
          </a:bodyPr>
          <a:lstStyle/>
          <a:p>
            <a:pPr algn="l">
              <a:defRPr sz="1100" b="0">
                <a:solidFill>
                  <a:srgbClr val="E83E3E"/>
                </a:solidFill>
                <a:latin typeface="Calibri"/>
              </a:defRPr>
            </a:pPr>
            <a:r>
              <a:t>Siloed tools — fraud, identity, device,</a:t>
            </a:r>
            <a:br/>
            <a:r>
              <a:t>and behavioral data in separate systems</a:t>
            </a:r>
          </a:p>
        </p:txBody>
      </p:sp>
      <p:sp>
        <p:nvSpPr>
          <p:cNvPr id="24" name="TextBox 23"/>
          <p:cNvSpPr txBox="1"/>
          <p:nvPr/>
        </p:nvSpPr>
        <p:spPr>
          <a:xfrm>
            <a:off x="5943600" y="4416551"/>
            <a:ext cx="5394960" cy="777240"/>
          </a:xfrm>
          <a:prstGeom prst="rect">
            <a:avLst/>
          </a:prstGeom>
          <a:noFill/>
        </p:spPr>
        <p:txBody>
          <a:bodyPr wrap="square">
            <a:spAutoFit/>
          </a:bodyPr>
          <a:lstStyle/>
          <a:p>
            <a:pPr algn="l">
              <a:defRPr sz="1100" b="0">
                <a:solidFill>
                  <a:srgbClr val="1A1A2E"/>
                </a:solidFill>
                <a:latin typeface="Calibri"/>
              </a:defRPr>
            </a:pPr>
            <a:r>
              <a:t>Single Snowflake platform unifies 50K customers,</a:t>
            </a:r>
            <a:br/>
            <a:r>
              <a:t>13M+ logins, device registry, telemetry, identity</a:t>
            </a:r>
            <a:br/>
            <a:r>
              <a:t>graph, and threat intel — one semantic layer</a:t>
            </a:r>
          </a:p>
        </p:txBody>
      </p:sp>
      <p:sp>
        <p:nvSpPr>
          <p:cNvPr id="25" name="Rounded Rectangle 24"/>
          <p:cNvSpPr/>
          <p:nvPr/>
        </p:nvSpPr>
        <p:spPr>
          <a:xfrm>
            <a:off x="548640" y="5166359"/>
            <a:ext cx="5029200" cy="7772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760720" y="5166359"/>
            <a:ext cx="5760720" cy="7772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239511"/>
            <a:ext cx="4663440" cy="777240"/>
          </a:xfrm>
          <a:prstGeom prst="rect">
            <a:avLst/>
          </a:prstGeom>
          <a:noFill/>
        </p:spPr>
        <p:txBody>
          <a:bodyPr wrap="square">
            <a:spAutoFit/>
          </a:bodyPr>
          <a:lstStyle/>
          <a:p>
            <a:pPr algn="l">
              <a:defRPr sz="1100" b="0">
                <a:solidFill>
                  <a:srgbClr val="E83E3E"/>
                </a:solidFill>
                <a:latin typeface="Calibri"/>
              </a:defRPr>
            </a:pPr>
            <a:r>
              <a:t>Regulatory burden — manual evidence</a:t>
            </a:r>
            <a:br/>
            <a:r>
              <a:t>gathering for compliance audits</a:t>
            </a:r>
          </a:p>
        </p:txBody>
      </p:sp>
      <p:sp>
        <p:nvSpPr>
          <p:cNvPr id="28" name="TextBox 27"/>
          <p:cNvSpPr txBox="1"/>
          <p:nvPr/>
        </p:nvSpPr>
        <p:spPr>
          <a:xfrm>
            <a:off x="5943600" y="5239511"/>
            <a:ext cx="5394960" cy="777240"/>
          </a:xfrm>
          <a:prstGeom prst="rect">
            <a:avLst/>
          </a:prstGeom>
          <a:noFill/>
        </p:spPr>
        <p:txBody>
          <a:bodyPr wrap="square">
            <a:spAutoFit/>
          </a:bodyPr>
          <a:lstStyle/>
          <a:p>
            <a:pPr algn="l">
              <a:defRPr sz="1100" b="0">
                <a:solidFill>
                  <a:srgbClr val="1A1A2E"/>
                </a:solidFill>
                <a:latin typeface="Calibri"/>
              </a:defRPr>
            </a:pPr>
            <a:r>
              <a:t>Built-in governance (masking, RAP, RBAC),</a:t>
            </a:r>
            <a:br/>
            <a:r>
              <a:t>24M+ audit records, and Cortex Agent for</a:t>
            </a:r>
            <a:br/>
            <a:r>
              <a:t>policy + live Federal Register lookup</a:t>
            </a:r>
          </a:p>
        </p:txBody>
      </p:sp>
      <p:sp>
        <p:nvSpPr>
          <p:cNvPr id="29" name="Rounded Rectangle 28"/>
          <p:cNvSpPr/>
          <p:nvPr/>
        </p:nvSpPr>
        <p:spPr>
          <a:xfrm>
            <a:off x="548640" y="5989319"/>
            <a:ext cx="502920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760720" y="5989319"/>
            <a:ext cx="57607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6062471"/>
            <a:ext cx="4663440" cy="777240"/>
          </a:xfrm>
          <a:prstGeom prst="rect">
            <a:avLst/>
          </a:prstGeom>
          <a:noFill/>
        </p:spPr>
        <p:txBody>
          <a:bodyPr wrap="square">
            <a:spAutoFit/>
          </a:bodyPr>
          <a:lstStyle/>
          <a:p>
            <a:pPr algn="l">
              <a:defRPr sz="1100" b="0">
                <a:solidFill>
                  <a:srgbClr val="E83E3E"/>
                </a:solidFill>
                <a:latin typeface="Calibri"/>
              </a:defRPr>
            </a:pPr>
            <a:r>
              <a:t>Black-box models — no explainability,</a:t>
            </a:r>
            <a:br/>
            <a:r>
              <a:t>hard to audit or trust</a:t>
            </a:r>
          </a:p>
        </p:txBody>
      </p:sp>
      <p:sp>
        <p:nvSpPr>
          <p:cNvPr id="32" name="TextBox 31"/>
          <p:cNvSpPr txBox="1"/>
          <p:nvPr/>
        </p:nvSpPr>
        <p:spPr>
          <a:xfrm>
            <a:off x="5943600" y="6062471"/>
            <a:ext cx="5394960" cy="777240"/>
          </a:xfrm>
          <a:prstGeom prst="rect">
            <a:avLst/>
          </a:prstGeom>
          <a:noFill/>
        </p:spPr>
        <p:txBody>
          <a:bodyPr wrap="square">
            <a:spAutoFit/>
          </a:bodyPr>
          <a:lstStyle/>
          <a:p>
            <a:pPr algn="l">
              <a:defRPr sz="1100" b="0">
                <a:solidFill>
                  <a:srgbClr val="1A1A2E"/>
                </a:solidFill>
                <a:latin typeface="Calibri"/>
              </a:defRPr>
            </a:pPr>
            <a:r>
              <a:t>Per-login risk factor attribution, versioned model</a:t>
            </a:r>
            <a:br/>
            <a:r>
              <a:t>registry, leakage guards that auto-reject features</a:t>
            </a:r>
            <a:br/>
            <a:r>
              <a:t>with suspiciously high predictive power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548640"/>
          </a:xfrm>
          <a:prstGeom prst="rect">
            <a:avLst/>
          </a:prstGeom>
          <a:noFill/>
        </p:spPr>
        <p:txBody>
          <a:bodyPr wrap="square">
            <a:spAutoFit/>
          </a:bodyPr>
          <a:lstStyle/>
          <a:p>
            <a:pPr algn="l">
              <a:defRPr sz="3200" b="1">
                <a:solidFill>
                  <a:srgbClr val="11274B"/>
                </a:solidFill>
                <a:latin typeface="Calibri"/>
              </a:defRPr>
            </a:pPr>
            <a:r>
              <a:t>Architecture &amp; Data Flow</a:t>
            </a:r>
          </a:p>
        </p:txBody>
      </p:sp>
      <p:sp>
        <p:nvSpPr>
          <p:cNvPr id="4" name="Rectangle 3"/>
          <p:cNvSpPr/>
          <p:nvPr/>
        </p:nvSpPr>
        <p:spPr>
          <a:xfrm>
            <a:off x="731520" y="960120"/>
            <a:ext cx="2286000"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365760"/>
          </a:xfrm>
          <a:prstGeom prst="rect">
            <a:avLst/>
          </a:prstGeom>
          <a:noFill/>
        </p:spPr>
        <p:txBody>
          <a:bodyPr wrap="square">
            <a:spAutoFit/>
          </a:bodyPr>
          <a:lstStyle/>
          <a:p>
            <a:pPr algn="l">
              <a:defRPr sz="1100" b="1">
                <a:solidFill>
                  <a:srgbClr val="6B7B8D"/>
                </a:solidFill>
                <a:latin typeface="Calibri"/>
              </a:defRPr>
            </a:pPr>
            <a:r>
              <a:t>DATA SOURCES</a:t>
            </a:r>
          </a:p>
        </p:txBody>
      </p:sp>
      <p:sp>
        <p:nvSpPr>
          <p:cNvPr id="6" name="Rounded Rectangle 5"/>
          <p:cNvSpPr/>
          <p:nvPr/>
        </p:nvSpPr>
        <p:spPr>
          <a:xfrm>
            <a:off x="457200" y="1600200"/>
            <a:ext cx="1600200" cy="777240"/>
          </a:xfrm>
          <a:prstGeom prst="roundRect">
            <a:avLst/>
          </a:prstGeom>
          <a:solidFill>
            <a:srgbClr val="FFFFFF"/>
          </a:solidFill>
          <a:ln w="12700">
            <a:solidFill>
              <a:srgbClr val="29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627632"/>
            <a:ext cx="1453896" cy="274320"/>
          </a:xfrm>
          <a:prstGeom prst="rect">
            <a:avLst/>
          </a:prstGeom>
          <a:noFill/>
        </p:spPr>
        <p:txBody>
          <a:bodyPr wrap="square">
            <a:spAutoFit/>
          </a:bodyPr>
          <a:lstStyle/>
          <a:p>
            <a:pPr algn="ctr">
              <a:defRPr sz="1000" b="1">
                <a:solidFill>
                  <a:srgbClr val="11274B"/>
                </a:solidFill>
                <a:latin typeface="Calibri"/>
              </a:defRPr>
            </a:pPr>
            <a:r>
              <a:t>Login Events</a:t>
            </a:r>
          </a:p>
        </p:txBody>
      </p:sp>
      <p:sp>
        <p:nvSpPr>
          <p:cNvPr id="8" name="TextBox 7"/>
          <p:cNvSpPr txBox="1"/>
          <p:nvPr/>
        </p:nvSpPr>
        <p:spPr>
          <a:xfrm>
            <a:off x="530352" y="1901952"/>
            <a:ext cx="1453896" cy="274320"/>
          </a:xfrm>
          <a:prstGeom prst="rect">
            <a:avLst/>
          </a:prstGeom>
          <a:noFill/>
        </p:spPr>
        <p:txBody>
          <a:bodyPr wrap="square">
            <a:spAutoFit/>
          </a:bodyPr>
          <a:lstStyle/>
          <a:p>
            <a:pPr algn="ctr">
              <a:defRPr sz="800" b="0">
                <a:solidFill>
                  <a:srgbClr val="6B7B8D"/>
                </a:solidFill>
                <a:latin typeface="Calibri"/>
              </a:defRPr>
            </a:pPr>
            <a:r>
              <a:t>13M+ rows, 90 days</a:t>
            </a:r>
          </a:p>
        </p:txBody>
      </p:sp>
      <p:sp>
        <p:nvSpPr>
          <p:cNvPr id="9" name="Rounded Rectangle 8"/>
          <p:cNvSpPr/>
          <p:nvPr/>
        </p:nvSpPr>
        <p:spPr>
          <a:xfrm>
            <a:off x="2167128" y="1600200"/>
            <a:ext cx="1600200" cy="777240"/>
          </a:xfrm>
          <a:prstGeom prst="roundRect">
            <a:avLst/>
          </a:prstGeom>
          <a:solidFill>
            <a:srgbClr val="FFFFFF"/>
          </a:solidFill>
          <a:ln w="12700">
            <a:solidFill>
              <a:srgbClr val="29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80" y="1627632"/>
            <a:ext cx="1453896" cy="274320"/>
          </a:xfrm>
          <a:prstGeom prst="rect">
            <a:avLst/>
          </a:prstGeom>
          <a:noFill/>
        </p:spPr>
        <p:txBody>
          <a:bodyPr wrap="square">
            <a:spAutoFit/>
          </a:bodyPr>
          <a:lstStyle/>
          <a:p>
            <a:pPr algn="ctr">
              <a:defRPr sz="1000" b="1">
                <a:solidFill>
                  <a:srgbClr val="11274B"/>
                </a:solidFill>
                <a:latin typeface="Calibri"/>
              </a:defRPr>
            </a:pPr>
            <a:r>
              <a:t>Customer Accounts</a:t>
            </a:r>
          </a:p>
        </p:txBody>
      </p:sp>
      <p:sp>
        <p:nvSpPr>
          <p:cNvPr id="11" name="TextBox 10"/>
          <p:cNvSpPr txBox="1"/>
          <p:nvPr/>
        </p:nvSpPr>
        <p:spPr>
          <a:xfrm>
            <a:off x="2240280" y="1901952"/>
            <a:ext cx="1453896" cy="274320"/>
          </a:xfrm>
          <a:prstGeom prst="rect">
            <a:avLst/>
          </a:prstGeom>
          <a:noFill/>
        </p:spPr>
        <p:txBody>
          <a:bodyPr wrap="square">
            <a:spAutoFit/>
          </a:bodyPr>
          <a:lstStyle/>
          <a:p>
            <a:pPr algn="ctr">
              <a:defRPr sz="800" b="0">
                <a:solidFill>
                  <a:srgbClr val="6B7B8D"/>
                </a:solidFill>
                <a:latin typeface="Calibri"/>
              </a:defRPr>
            </a:pPr>
            <a:r>
              <a:t>50K accounts, 2% compromised</a:t>
            </a:r>
          </a:p>
        </p:txBody>
      </p:sp>
      <p:sp>
        <p:nvSpPr>
          <p:cNvPr id="12" name="Rounded Rectangle 11"/>
          <p:cNvSpPr/>
          <p:nvPr/>
        </p:nvSpPr>
        <p:spPr>
          <a:xfrm>
            <a:off x="3877056" y="1600200"/>
            <a:ext cx="1600200" cy="777240"/>
          </a:xfrm>
          <a:prstGeom prst="roundRect">
            <a:avLst/>
          </a:prstGeom>
          <a:solidFill>
            <a:srgbClr val="FFFFFF"/>
          </a:solidFill>
          <a:ln w="12700">
            <a:solidFill>
              <a:srgbClr val="29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50208" y="1627632"/>
            <a:ext cx="1453896" cy="274320"/>
          </a:xfrm>
          <a:prstGeom prst="rect">
            <a:avLst/>
          </a:prstGeom>
          <a:noFill/>
        </p:spPr>
        <p:txBody>
          <a:bodyPr wrap="square">
            <a:spAutoFit/>
          </a:bodyPr>
          <a:lstStyle/>
          <a:p>
            <a:pPr algn="ctr">
              <a:defRPr sz="1000" b="1">
                <a:solidFill>
                  <a:srgbClr val="11274B"/>
                </a:solidFill>
                <a:latin typeface="Calibri"/>
              </a:defRPr>
            </a:pPr>
            <a:r>
              <a:t>Device Registry</a:t>
            </a:r>
          </a:p>
        </p:txBody>
      </p:sp>
      <p:sp>
        <p:nvSpPr>
          <p:cNvPr id="14" name="TextBox 13"/>
          <p:cNvSpPr txBox="1"/>
          <p:nvPr/>
        </p:nvSpPr>
        <p:spPr>
          <a:xfrm>
            <a:off x="3950208" y="1901952"/>
            <a:ext cx="1453896" cy="274320"/>
          </a:xfrm>
          <a:prstGeom prst="rect">
            <a:avLst/>
          </a:prstGeom>
          <a:noFill/>
        </p:spPr>
        <p:txBody>
          <a:bodyPr wrap="square">
            <a:spAutoFit/>
          </a:bodyPr>
          <a:lstStyle/>
          <a:p>
            <a:pPr algn="ctr">
              <a:defRPr sz="800" b="0">
                <a:solidFill>
                  <a:srgbClr val="6B7B8D"/>
                </a:solidFill>
                <a:latin typeface="Calibri"/>
              </a:defRPr>
            </a:pPr>
            <a:r>
              <a:t>Fingerprints, trust status</a:t>
            </a:r>
          </a:p>
        </p:txBody>
      </p:sp>
      <p:sp>
        <p:nvSpPr>
          <p:cNvPr id="15" name="Rounded Rectangle 14"/>
          <p:cNvSpPr/>
          <p:nvPr/>
        </p:nvSpPr>
        <p:spPr>
          <a:xfrm>
            <a:off x="5586984" y="1600200"/>
            <a:ext cx="1600200" cy="777240"/>
          </a:xfrm>
          <a:prstGeom prst="roundRect">
            <a:avLst/>
          </a:prstGeom>
          <a:solidFill>
            <a:srgbClr val="FFFFFF"/>
          </a:solidFill>
          <a:ln w="12700">
            <a:solidFill>
              <a:srgbClr val="29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0136" y="1627632"/>
            <a:ext cx="1453896" cy="274320"/>
          </a:xfrm>
          <a:prstGeom prst="rect">
            <a:avLst/>
          </a:prstGeom>
          <a:noFill/>
        </p:spPr>
        <p:txBody>
          <a:bodyPr wrap="square">
            <a:spAutoFit/>
          </a:bodyPr>
          <a:lstStyle/>
          <a:p>
            <a:pPr algn="ctr">
              <a:defRPr sz="1000" b="1">
                <a:solidFill>
                  <a:srgbClr val="11274B"/>
                </a:solidFill>
                <a:latin typeface="Calibri"/>
              </a:defRPr>
            </a:pPr>
            <a:r>
              <a:t>Session Telemetry</a:t>
            </a:r>
          </a:p>
        </p:txBody>
      </p:sp>
      <p:sp>
        <p:nvSpPr>
          <p:cNvPr id="17" name="TextBox 16"/>
          <p:cNvSpPr txBox="1"/>
          <p:nvPr/>
        </p:nvSpPr>
        <p:spPr>
          <a:xfrm>
            <a:off x="5660136" y="1901952"/>
            <a:ext cx="1453896" cy="274320"/>
          </a:xfrm>
          <a:prstGeom prst="rect">
            <a:avLst/>
          </a:prstGeom>
          <a:noFill/>
        </p:spPr>
        <p:txBody>
          <a:bodyPr wrap="square">
            <a:spAutoFit/>
          </a:bodyPr>
          <a:lstStyle/>
          <a:p>
            <a:pPr algn="ctr">
              <a:defRPr sz="800" b="0">
                <a:solidFill>
                  <a:srgbClr val="6B7B8D"/>
                </a:solidFill>
                <a:latin typeface="Calibri"/>
              </a:defRPr>
            </a:pPr>
            <a:r>
              <a:t>Keystroke, mouse, touch</a:t>
            </a:r>
          </a:p>
        </p:txBody>
      </p:sp>
      <p:sp>
        <p:nvSpPr>
          <p:cNvPr id="18" name="Rounded Rectangle 17"/>
          <p:cNvSpPr/>
          <p:nvPr/>
        </p:nvSpPr>
        <p:spPr>
          <a:xfrm>
            <a:off x="7296912" y="1600200"/>
            <a:ext cx="1600200" cy="777240"/>
          </a:xfrm>
          <a:prstGeom prst="roundRect">
            <a:avLst/>
          </a:prstGeom>
          <a:solidFill>
            <a:srgbClr val="FFFFFF"/>
          </a:solidFill>
          <a:ln w="12700">
            <a:solidFill>
              <a:srgbClr val="29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70064" y="1627632"/>
            <a:ext cx="1453896" cy="274320"/>
          </a:xfrm>
          <a:prstGeom prst="rect">
            <a:avLst/>
          </a:prstGeom>
          <a:noFill/>
        </p:spPr>
        <p:txBody>
          <a:bodyPr wrap="square">
            <a:spAutoFit/>
          </a:bodyPr>
          <a:lstStyle/>
          <a:p>
            <a:pPr algn="ctr">
              <a:defRPr sz="1000" b="1">
                <a:solidFill>
                  <a:srgbClr val="11274B"/>
                </a:solidFill>
                <a:latin typeface="Calibri"/>
              </a:defRPr>
            </a:pPr>
            <a:r>
              <a:t>Identity Graph</a:t>
            </a:r>
          </a:p>
        </p:txBody>
      </p:sp>
      <p:sp>
        <p:nvSpPr>
          <p:cNvPr id="20" name="TextBox 19"/>
          <p:cNvSpPr txBox="1"/>
          <p:nvPr/>
        </p:nvSpPr>
        <p:spPr>
          <a:xfrm>
            <a:off x="7370064" y="1901952"/>
            <a:ext cx="1453896" cy="274320"/>
          </a:xfrm>
          <a:prstGeom prst="rect">
            <a:avLst/>
          </a:prstGeom>
          <a:noFill/>
        </p:spPr>
        <p:txBody>
          <a:bodyPr wrap="square">
            <a:spAutoFit/>
          </a:bodyPr>
          <a:lstStyle/>
          <a:p>
            <a:pPr algn="ctr">
              <a:defRPr sz="800" b="0">
                <a:solidFill>
                  <a:srgbClr val="6B7B8D"/>
                </a:solidFill>
                <a:latin typeface="Calibri"/>
              </a:defRPr>
            </a:pPr>
            <a:r>
              <a:t>Entity relationship edges</a:t>
            </a:r>
          </a:p>
        </p:txBody>
      </p:sp>
      <p:sp>
        <p:nvSpPr>
          <p:cNvPr id="21" name="Rounded Rectangle 20"/>
          <p:cNvSpPr/>
          <p:nvPr/>
        </p:nvSpPr>
        <p:spPr>
          <a:xfrm>
            <a:off x="9006840" y="1600200"/>
            <a:ext cx="1600200" cy="777240"/>
          </a:xfrm>
          <a:prstGeom prst="roundRect">
            <a:avLst/>
          </a:prstGeom>
          <a:solidFill>
            <a:srgbClr val="FFFFFF"/>
          </a:solidFill>
          <a:ln w="12700">
            <a:solidFill>
              <a:srgbClr val="29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9992" y="1627632"/>
            <a:ext cx="1453896" cy="274320"/>
          </a:xfrm>
          <a:prstGeom prst="rect">
            <a:avLst/>
          </a:prstGeom>
          <a:noFill/>
        </p:spPr>
        <p:txBody>
          <a:bodyPr wrap="square">
            <a:spAutoFit/>
          </a:bodyPr>
          <a:lstStyle/>
          <a:p>
            <a:pPr algn="ctr">
              <a:defRPr sz="1000" b="1">
                <a:solidFill>
                  <a:srgbClr val="11274B"/>
                </a:solidFill>
                <a:latin typeface="Calibri"/>
              </a:defRPr>
            </a:pPr>
            <a:r>
              <a:t>Threat Intel Feeds</a:t>
            </a:r>
          </a:p>
        </p:txBody>
      </p:sp>
      <p:sp>
        <p:nvSpPr>
          <p:cNvPr id="23" name="TextBox 22"/>
          <p:cNvSpPr txBox="1"/>
          <p:nvPr/>
        </p:nvSpPr>
        <p:spPr>
          <a:xfrm>
            <a:off x="9079992" y="1901952"/>
            <a:ext cx="1453896" cy="274320"/>
          </a:xfrm>
          <a:prstGeom prst="rect">
            <a:avLst/>
          </a:prstGeom>
          <a:noFill/>
        </p:spPr>
        <p:txBody>
          <a:bodyPr wrap="square">
            <a:spAutoFit/>
          </a:bodyPr>
          <a:lstStyle/>
          <a:p>
            <a:pPr algn="ctr">
              <a:defRPr sz="800" b="0">
                <a:solidFill>
                  <a:srgbClr val="6B7B8D"/>
                </a:solidFill>
                <a:latin typeface="Calibri"/>
              </a:defRPr>
            </a:pPr>
            <a:r>
              <a:t>IP / device reputation</a:t>
            </a:r>
          </a:p>
        </p:txBody>
      </p:sp>
      <p:sp>
        <p:nvSpPr>
          <p:cNvPr id="24" name="Rectangle 23"/>
          <p:cNvSpPr/>
          <p:nvPr/>
        </p:nvSpPr>
        <p:spPr>
          <a:xfrm>
            <a:off x="457200" y="2423160"/>
            <a:ext cx="5029200" cy="256032"/>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423160"/>
            <a:ext cx="5029200" cy="256032"/>
          </a:xfrm>
          <a:prstGeom prst="rect">
            <a:avLst/>
          </a:prstGeom>
          <a:noFill/>
        </p:spPr>
        <p:txBody>
          <a:bodyPr wrap="square">
            <a:spAutoFit/>
          </a:bodyPr>
          <a:lstStyle/>
          <a:p>
            <a:pPr algn="ctr">
              <a:defRPr sz="900" b="1">
                <a:solidFill>
                  <a:srgbClr val="FFFFFF"/>
                </a:solidFill>
                <a:latin typeface="Calibri"/>
              </a:defRPr>
            </a:pPr>
            <a:r>
              <a:t>STRUCTURED DATA</a:t>
            </a:r>
          </a:p>
        </p:txBody>
      </p:sp>
      <p:sp>
        <p:nvSpPr>
          <p:cNvPr id="26" name="Rectangle 25"/>
          <p:cNvSpPr/>
          <p:nvPr/>
        </p:nvSpPr>
        <p:spPr>
          <a:xfrm>
            <a:off x="5715000" y="2423160"/>
            <a:ext cx="5440680" cy="2560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15000" y="2423160"/>
            <a:ext cx="5440680" cy="256032"/>
          </a:xfrm>
          <a:prstGeom prst="rect">
            <a:avLst/>
          </a:prstGeom>
          <a:noFill/>
        </p:spPr>
        <p:txBody>
          <a:bodyPr wrap="square">
            <a:spAutoFit/>
          </a:bodyPr>
          <a:lstStyle/>
          <a:p>
            <a:pPr algn="ctr">
              <a:defRPr sz="900" b="1">
                <a:solidFill>
                  <a:srgbClr val="FFFFFF"/>
                </a:solidFill>
                <a:latin typeface="Calibri"/>
              </a:defRPr>
            </a:pPr>
            <a:r>
              <a:t>UNSTRUCTURED / SEMI-STRUCTURED DATA</a:t>
            </a:r>
          </a:p>
        </p:txBody>
      </p:sp>
      <p:sp>
        <p:nvSpPr>
          <p:cNvPr id="28" name="Rounded Rectangle 27"/>
          <p:cNvSpPr/>
          <p:nvPr/>
        </p:nvSpPr>
        <p:spPr>
          <a:xfrm>
            <a:off x="5715000" y="1600200"/>
            <a:ext cx="1755648" cy="77724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9864" y="1627632"/>
            <a:ext cx="1645920" cy="274320"/>
          </a:xfrm>
          <a:prstGeom prst="rect">
            <a:avLst/>
          </a:prstGeom>
          <a:noFill/>
        </p:spPr>
        <p:txBody>
          <a:bodyPr wrap="square">
            <a:spAutoFit/>
          </a:bodyPr>
          <a:lstStyle/>
          <a:p>
            <a:pPr algn="ctr">
              <a:defRPr sz="1000" b="1">
                <a:solidFill>
                  <a:srgbClr val="11274B"/>
                </a:solidFill>
                <a:latin typeface="Calibri"/>
              </a:defRPr>
            </a:pPr>
            <a:r>
              <a:t>6 Fraud Policy Docs</a:t>
            </a:r>
          </a:p>
        </p:txBody>
      </p:sp>
      <p:sp>
        <p:nvSpPr>
          <p:cNvPr id="30" name="TextBox 29"/>
          <p:cNvSpPr txBox="1"/>
          <p:nvPr/>
        </p:nvSpPr>
        <p:spPr>
          <a:xfrm>
            <a:off x="5769864" y="1901952"/>
            <a:ext cx="1645920" cy="274320"/>
          </a:xfrm>
          <a:prstGeom prst="rect">
            <a:avLst/>
          </a:prstGeom>
          <a:noFill/>
        </p:spPr>
        <p:txBody>
          <a:bodyPr wrap="square">
            <a:spAutoFit/>
          </a:bodyPr>
          <a:lstStyle/>
          <a:p>
            <a:pPr algn="ctr">
              <a:defRPr sz="800" b="0">
                <a:solidFill>
                  <a:srgbClr val="6B7B8D"/>
                </a:solidFill>
                <a:latin typeface="Calibri"/>
              </a:defRPr>
            </a:pPr>
            <a:r>
              <a:t>Chunked → Cortex Search</a:t>
            </a:r>
          </a:p>
        </p:txBody>
      </p:sp>
      <p:sp>
        <p:nvSpPr>
          <p:cNvPr id="31" name="Rounded Rectangle 30"/>
          <p:cNvSpPr/>
          <p:nvPr/>
        </p:nvSpPr>
        <p:spPr>
          <a:xfrm>
            <a:off x="7562088" y="1600200"/>
            <a:ext cx="1755648" cy="77724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16952" y="1627632"/>
            <a:ext cx="1645920" cy="274320"/>
          </a:xfrm>
          <a:prstGeom prst="rect">
            <a:avLst/>
          </a:prstGeom>
          <a:noFill/>
        </p:spPr>
        <p:txBody>
          <a:bodyPr wrap="square">
            <a:spAutoFit/>
          </a:bodyPr>
          <a:lstStyle/>
          <a:p>
            <a:pPr algn="ctr">
              <a:defRPr sz="1000" b="1">
                <a:solidFill>
                  <a:srgbClr val="11274B"/>
                </a:solidFill>
                <a:latin typeface="Calibri"/>
              </a:defRPr>
            </a:pPr>
            <a:r>
              <a:t>Federal Register API</a:t>
            </a:r>
          </a:p>
        </p:txBody>
      </p:sp>
      <p:sp>
        <p:nvSpPr>
          <p:cNvPr id="33" name="TextBox 32"/>
          <p:cNvSpPr txBox="1"/>
          <p:nvPr/>
        </p:nvSpPr>
        <p:spPr>
          <a:xfrm>
            <a:off x="7616952" y="1901952"/>
            <a:ext cx="1645920" cy="274320"/>
          </a:xfrm>
          <a:prstGeom prst="rect">
            <a:avLst/>
          </a:prstGeom>
          <a:noFill/>
        </p:spPr>
        <p:txBody>
          <a:bodyPr wrap="square">
            <a:spAutoFit/>
          </a:bodyPr>
          <a:lstStyle/>
          <a:p>
            <a:pPr algn="ctr">
              <a:defRPr sz="800" b="0">
                <a:solidFill>
                  <a:srgbClr val="6B7B8D"/>
                </a:solidFill>
                <a:latin typeface="Calibri"/>
              </a:defRPr>
            </a:pPr>
            <a:r>
              <a:t>Live regulatory docs via MCP</a:t>
            </a:r>
          </a:p>
        </p:txBody>
      </p:sp>
      <p:sp>
        <p:nvSpPr>
          <p:cNvPr id="34" name="Rounded Rectangle 33"/>
          <p:cNvSpPr/>
          <p:nvPr/>
        </p:nvSpPr>
        <p:spPr>
          <a:xfrm>
            <a:off x="9409176" y="1600200"/>
            <a:ext cx="1755648" cy="77724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64040" y="1627632"/>
            <a:ext cx="1645920" cy="274320"/>
          </a:xfrm>
          <a:prstGeom prst="rect">
            <a:avLst/>
          </a:prstGeom>
          <a:noFill/>
        </p:spPr>
        <p:txBody>
          <a:bodyPr wrap="square">
            <a:spAutoFit/>
          </a:bodyPr>
          <a:lstStyle/>
          <a:p>
            <a:pPr algn="ctr">
              <a:defRPr sz="1000" b="1">
                <a:solidFill>
                  <a:srgbClr val="11274B"/>
                </a:solidFill>
                <a:latin typeface="Calibri"/>
              </a:defRPr>
            </a:pPr>
            <a:r>
              <a:t>Semantic View YAML</a:t>
            </a:r>
          </a:p>
        </p:txBody>
      </p:sp>
      <p:sp>
        <p:nvSpPr>
          <p:cNvPr id="36" name="TextBox 35"/>
          <p:cNvSpPr txBox="1"/>
          <p:nvPr/>
        </p:nvSpPr>
        <p:spPr>
          <a:xfrm>
            <a:off x="9464040" y="1901952"/>
            <a:ext cx="1645920" cy="274320"/>
          </a:xfrm>
          <a:prstGeom prst="rect">
            <a:avLst/>
          </a:prstGeom>
          <a:noFill/>
        </p:spPr>
        <p:txBody>
          <a:bodyPr wrap="square">
            <a:spAutoFit/>
          </a:bodyPr>
          <a:lstStyle/>
          <a:p>
            <a:pPr algn="ctr">
              <a:defRPr sz="800" b="0">
                <a:solidFill>
                  <a:srgbClr val="6B7B8D"/>
                </a:solidFill>
                <a:latin typeface="Calibri"/>
              </a:defRPr>
            </a:pPr>
            <a:r>
              <a:t>648 lines, 9 tables, 14+ VQRs</a:t>
            </a:r>
          </a:p>
        </p:txBody>
      </p:sp>
      <p:sp>
        <p:nvSpPr>
          <p:cNvPr id="37" name="Down Arrow 36"/>
          <p:cNvSpPr/>
          <p:nvPr/>
        </p:nvSpPr>
        <p:spPr>
          <a:xfrm>
            <a:off x="2926080" y="2788920"/>
            <a:ext cx="274320" cy="228600"/>
          </a:xfrm>
          <a:prstGeom prst="down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own Arrow 37"/>
          <p:cNvSpPr/>
          <p:nvPr/>
        </p:nvSpPr>
        <p:spPr>
          <a:xfrm>
            <a:off x="7589520" y="2788920"/>
            <a:ext cx="274320" cy="228600"/>
          </a:xfrm>
          <a:prstGeom prst="down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154680"/>
            <a:ext cx="10972800" cy="274320"/>
          </a:xfrm>
          <a:prstGeom prst="rect">
            <a:avLst/>
          </a:prstGeom>
          <a:noFill/>
        </p:spPr>
        <p:txBody>
          <a:bodyPr wrap="square">
            <a:spAutoFit/>
          </a:bodyPr>
          <a:lstStyle/>
          <a:p>
            <a:pPr algn="l">
              <a:defRPr sz="1100" b="1">
                <a:solidFill>
                  <a:srgbClr val="6B7B8D"/>
                </a:solidFill>
                <a:latin typeface="Calibri"/>
              </a:defRPr>
            </a:pPr>
            <a:r>
              <a:t>PROCESSING PIPELINE — MODULAR COMPONENTS</a:t>
            </a:r>
          </a:p>
        </p:txBody>
      </p:sp>
      <p:sp>
        <p:nvSpPr>
          <p:cNvPr id="40" name="Rounded Rectangle 39"/>
          <p:cNvSpPr/>
          <p:nvPr/>
        </p:nvSpPr>
        <p:spPr>
          <a:xfrm>
            <a:off x="457200" y="3474720"/>
            <a:ext cx="2560320" cy="214884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3474720"/>
            <a:ext cx="2560320" cy="63500"/>
          </a:xfrm>
          <a:prstGeom prst="rect">
            <a:avLst/>
          </a:prstGeom>
          <a:solidFill>
            <a:srgbClr val="007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3611880"/>
            <a:ext cx="2377440" cy="320040"/>
          </a:xfrm>
          <a:prstGeom prst="rect">
            <a:avLst/>
          </a:prstGeom>
          <a:noFill/>
        </p:spPr>
        <p:txBody>
          <a:bodyPr wrap="square">
            <a:spAutoFit/>
          </a:bodyPr>
          <a:lstStyle/>
          <a:p>
            <a:pPr algn="ctr">
              <a:defRPr sz="1300" b="1">
                <a:solidFill>
                  <a:srgbClr val="11274B"/>
                </a:solidFill>
                <a:latin typeface="Calibri"/>
              </a:defRPr>
            </a:pPr>
            <a:r>
              <a:t>Feature Engineering</a:t>
            </a:r>
          </a:p>
        </p:txBody>
      </p:sp>
      <p:sp>
        <p:nvSpPr>
          <p:cNvPr id="43" name="TextBox 42"/>
          <p:cNvSpPr txBox="1"/>
          <p:nvPr/>
        </p:nvSpPr>
        <p:spPr>
          <a:xfrm>
            <a:off x="548640" y="3931920"/>
            <a:ext cx="2377440" cy="274320"/>
          </a:xfrm>
          <a:prstGeom prst="rect">
            <a:avLst/>
          </a:prstGeom>
          <a:noFill/>
        </p:spPr>
        <p:txBody>
          <a:bodyPr wrap="square">
            <a:spAutoFit/>
          </a:bodyPr>
          <a:lstStyle/>
          <a:p>
            <a:pPr algn="ctr">
              <a:defRPr sz="900" b="1">
                <a:solidFill>
                  <a:srgbClr val="007EB5"/>
                </a:solidFill>
                <a:latin typeface="Calibri"/>
              </a:defRPr>
            </a:pPr>
            <a:r>
              <a:t>FEATURES Schema</a:t>
            </a:r>
          </a:p>
        </p:txBody>
      </p:sp>
      <p:sp>
        <p:nvSpPr>
          <p:cNvPr id="44" name="TextBox 43"/>
          <p:cNvSpPr txBox="1"/>
          <p:nvPr/>
        </p:nvSpPr>
        <p:spPr>
          <a:xfrm>
            <a:off x="548640" y="4251960"/>
            <a:ext cx="2377440" cy="1280160"/>
          </a:xfrm>
          <a:prstGeom prst="rect">
            <a:avLst/>
          </a:prstGeom>
          <a:noFill/>
        </p:spPr>
        <p:txBody>
          <a:bodyPr wrap="square">
            <a:spAutoFit/>
          </a:bodyPr>
          <a:lstStyle/>
          <a:p>
            <a:pPr algn="ctr">
              <a:defRPr sz="1000" b="0">
                <a:solidFill>
                  <a:srgbClr val="6B7B8D"/>
                </a:solidFill>
                <a:latin typeface="Calibri"/>
              </a:defRPr>
            </a:pPr>
            <a:r>
              <a:t>5 Dynamic Tables</a:t>
            </a:r>
            <a:br/>
            <a:r>
              <a:t>1-min target lag</a:t>
            </a:r>
            <a:br/>
            <a:r>
              <a:t>Auth · Behavioral · Profile</a:t>
            </a:r>
            <a:br/>
            <a:r>
              <a:t>Reputation · Scored Logins</a:t>
            </a:r>
          </a:p>
        </p:txBody>
      </p:sp>
      <p:sp>
        <p:nvSpPr>
          <p:cNvPr id="45" name="Right Arrow 44"/>
          <p:cNvSpPr/>
          <p:nvPr/>
        </p:nvSpPr>
        <p:spPr>
          <a:xfrm>
            <a:off x="3017520" y="4389120"/>
            <a:ext cx="201168" cy="320040"/>
          </a:xfrm>
          <a:prstGeom prst="right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3154680" y="3474720"/>
            <a:ext cx="2560320" cy="214884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154680" y="3474720"/>
            <a:ext cx="2560320" cy="635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46120" y="3611880"/>
            <a:ext cx="2377440" cy="320040"/>
          </a:xfrm>
          <a:prstGeom prst="rect">
            <a:avLst/>
          </a:prstGeom>
          <a:noFill/>
        </p:spPr>
        <p:txBody>
          <a:bodyPr wrap="square">
            <a:spAutoFit/>
          </a:bodyPr>
          <a:lstStyle/>
          <a:p>
            <a:pPr algn="ctr">
              <a:defRPr sz="1300" b="1">
                <a:solidFill>
                  <a:srgbClr val="11274B"/>
                </a:solidFill>
                <a:latin typeface="Calibri"/>
              </a:defRPr>
            </a:pPr>
            <a:r>
              <a:t>ML Scoring Engine</a:t>
            </a:r>
          </a:p>
        </p:txBody>
      </p:sp>
      <p:sp>
        <p:nvSpPr>
          <p:cNvPr id="49" name="TextBox 48"/>
          <p:cNvSpPr txBox="1"/>
          <p:nvPr/>
        </p:nvSpPr>
        <p:spPr>
          <a:xfrm>
            <a:off x="3246120" y="3931920"/>
            <a:ext cx="2377440" cy="274320"/>
          </a:xfrm>
          <a:prstGeom prst="rect">
            <a:avLst/>
          </a:prstGeom>
          <a:noFill/>
        </p:spPr>
        <p:txBody>
          <a:bodyPr wrap="square">
            <a:spAutoFit/>
          </a:bodyPr>
          <a:lstStyle/>
          <a:p>
            <a:pPr algn="ctr">
              <a:defRPr sz="900" b="1">
                <a:solidFill>
                  <a:srgbClr val="29B5E8"/>
                </a:solidFill>
                <a:latin typeface="Calibri"/>
              </a:defRPr>
            </a:pPr>
            <a:r>
              <a:t>SCORING Schema</a:t>
            </a:r>
          </a:p>
        </p:txBody>
      </p:sp>
      <p:sp>
        <p:nvSpPr>
          <p:cNvPr id="50" name="TextBox 49"/>
          <p:cNvSpPr txBox="1"/>
          <p:nvPr/>
        </p:nvSpPr>
        <p:spPr>
          <a:xfrm>
            <a:off x="3246120" y="4251960"/>
            <a:ext cx="2377440" cy="1280160"/>
          </a:xfrm>
          <a:prstGeom prst="rect">
            <a:avLst/>
          </a:prstGeom>
          <a:noFill/>
        </p:spPr>
        <p:txBody>
          <a:bodyPr wrap="square">
            <a:spAutoFit/>
          </a:bodyPr>
          <a:lstStyle/>
          <a:p>
            <a:pPr algn="ctr">
              <a:defRPr sz="1000" b="0">
                <a:solidFill>
                  <a:srgbClr val="6B7B8D"/>
                </a:solidFill>
                <a:latin typeface="Calibri"/>
              </a:defRPr>
            </a:pPr>
            <a:r>
              <a:t>4-Layer Ensemble</a:t>
            </a:r>
            <a:br/>
            <a:r>
              <a:t>XGBoost · Isolation Forest</a:t>
            </a:r>
            <a:br/>
            <a:r>
              <a:t>Graph Topology · Meta-Model</a:t>
            </a:r>
            <a:br/>
            <a:r>
              <a:t>0–1000 Risk Score</a:t>
            </a:r>
          </a:p>
        </p:txBody>
      </p:sp>
      <p:sp>
        <p:nvSpPr>
          <p:cNvPr id="51" name="Right Arrow 50"/>
          <p:cNvSpPr/>
          <p:nvPr/>
        </p:nvSpPr>
        <p:spPr>
          <a:xfrm>
            <a:off x="5715000" y="4389120"/>
            <a:ext cx="201168" cy="320040"/>
          </a:xfrm>
          <a:prstGeom prst="right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5852160" y="3474720"/>
            <a:ext cx="2560320" cy="214884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852160" y="3474720"/>
            <a:ext cx="2560320" cy="635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0" y="3611880"/>
            <a:ext cx="2377440" cy="320040"/>
          </a:xfrm>
          <a:prstGeom prst="rect">
            <a:avLst/>
          </a:prstGeom>
          <a:noFill/>
        </p:spPr>
        <p:txBody>
          <a:bodyPr wrap="square">
            <a:spAutoFit/>
          </a:bodyPr>
          <a:lstStyle/>
          <a:p>
            <a:pPr algn="ctr">
              <a:defRPr sz="1300" b="1">
                <a:solidFill>
                  <a:srgbClr val="11274B"/>
                </a:solidFill>
                <a:latin typeface="Calibri"/>
              </a:defRPr>
            </a:pPr>
            <a:r>
              <a:t>Intelligence Layer</a:t>
            </a:r>
          </a:p>
        </p:txBody>
      </p:sp>
      <p:sp>
        <p:nvSpPr>
          <p:cNvPr id="55" name="TextBox 54"/>
          <p:cNvSpPr txBox="1"/>
          <p:nvPr/>
        </p:nvSpPr>
        <p:spPr>
          <a:xfrm>
            <a:off x="5943600" y="3931920"/>
            <a:ext cx="2377440" cy="274320"/>
          </a:xfrm>
          <a:prstGeom prst="rect">
            <a:avLst/>
          </a:prstGeom>
          <a:noFill/>
        </p:spPr>
        <p:txBody>
          <a:bodyPr wrap="square">
            <a:spAutoFit/>
          </a:bodyPr>
          <a:lstStyle/>
          <a:p>
            <a:pPr algn="ctr">
              <a:defRPr sz="900" b="1">
                <a:solidFill>
                  <a:srgbClr val="2ECC71"/>
                </a:solidFill>
                <a:latin typeface="Calibri"/>
              </a:defRPr>
            </a:pPr>
            <a:r>
              <a:t>SEMANTIC + APP Schemas</a:t>
            </a:r>
          </a:p>
        </p:txBody>
      </p:sp>
      <p:sp>
        <p:nvSpPr>
          <p:cNvPr id="56" name="TextBox 55"/>
          <p:cNvSpPr txBox="1"/>
          <p:nvPr/>
        </p:nvSpPr>
        <p:spPr>
          <a:xfrm>
            <a:off x="5943600" y="4251960"/>
            <a:ext cx="2377440" cy="1280160"/>
          </a:xfrm>
          <a:prstGeom prst="rect">
            <a:avLst/>
          </a:prstGeom>
          <a:noFill/>
        </p:spPr>
        <p:txBody>
          <a:bodyPr wrap="square">
            <a:spAutoFit/>
          </a:bodyPr>
          <a:lstStyle/>
          <a:p>
            <a:pPr algn="ctr">
              <a:defRPr sz="1000" b="0">
                <a:solidFill>
                  <a:srgbClr val="6B7B8D"/>
                </a:solidFill>
                <a:latin typeface="Calibri"/>
              </a:defRPr>
            </a:pPr>
            <a:r>
              <a:t>Cortex Agent (3-channel)</a:t>
            </a:r>
            <a:br/>
            <a:r>
              <a:t>Semantic View + Analyst</a:t>
            </a:r>
            <a:br/>
            <a:r>
              <a:t>Cortex Search (policies)</a:t>
            </a:r>
            <a:br/>
            <a:r>
              <a:t>MCP (Federal Register)</a:t>
            </a:r>
          </a:p>
        </p:txBody>
      </p:sp>
      <p:sp>
        <p:nvSpPr>
          <p:cNvPr id="57" name="Right Arrow 56"/>
          <p:cNvSpPr/>
          <p:nvPr/>
        </p:nvSpPr>
        <p:spPr>
          <a:xfrm>
            <a:off x="8412480" y="4389120"/>
            <a:ext cx="201168" cy="320040"/>
          </a:xfrm>
          <a:prstGeom prst="right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549640" y="3474720"/>
            <a:ext cx="2560320" cy="214884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549640" y="3474720"/>
            <a:ext cx="2560320" cy="635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641080" y="3611880"/>
            <a:ext cx="2377440" cy="320040"/>
          </a:xfrm>
          <a:prstGeom prst="rect">
            <a:avLst/>
          </a:prstGeom>
          <a:noFill/>
        </p:spPr>
        <p:txBody>
          <a:bodyPr wrap="square">
            <a:spAutoFit/>
          </a:bodyPr>
          <a:lstStyle/>
          <a:p>
            <a:pPr algn="ctr">
              <a:defRPr sz="1300" b="1">
                <a:solidFill>
                  <a:srgbClr val="11274B"/>
                </a:solidFill>
                <a:latin typeface="Calibri"/>
              </a:defRPr>
            </a:pPr>
            <a:r>
              <a:t>Governance &amp; Audit</a:t>
            </a:r>
          </a:p>
        </p:txBody>
      </p:sp>
      <p:sp>
        <p:nvSpPr>
          <p:cNvPr id="61" name="TextBox 60"/>
          <p:cNvSpPr txBox="1"/>
          <p:nvPr/>
        </p:nvSpPr>
        <p:spPr>
          <a:xfrm>
            <a:off x="8641080" y="3931920"/>
            <a:ext cx="2377440" cy="274320"/>
          </a:xfrm>
          <a:prstGeom prst="rect">
            <a:avLst/>
          </a:prstGeom>
          <a:noFill/>
        </p:spPr>
        <p:txBody>
          <a:bodyPr wrap="square">
            <a:spAutoFit/>
          </a:bodyPr>
          <a:lstStyle/>
          <a:p>
            <a:pPr algn="ctr">
              <a:defRPr sz="900" b="1">
                <a:solidFill>
                  <a:srgbClr val="F5A623"/>
                </a:solidFill>
                <a:latin typeface="Calibri"/>
              </a:defRPr>
            </a:pPr>
            <a:r>
              <a:t>GOVERNANCE Schema</a:t>
            </a:r>
          </a:p>
        </p:txBody>
      </p:sp>
      <p:sp>
        <p:nvSpPr>
          <p:cNvPr id="62" name="TextBox 61"/>
          <p:cNvSpPr txBox="1"/>
          <p:nvPr/>
        </p:nvSpPr>
        <p:spPr>
          <a:xfrm>
            <a:off x="8641080" y="4251960"/>
            <a:ext cx="2377440" cy="1280160"/>
          </a:xfrm>
          <a:prstGeom prst="rect">
            <a:avLst/>
          </a:prstGeom>
          <a:noFill/>
        </p:spPr>
        <p:txBody>
          <a:bodyPr wrap="square">
            <a:spAutoFit/>
          </a:bodyPr>
          <a:lstStyle/>
          <a:p>
            <a:pPr algn="ctr">
              <a:defRPr sz="1000" b="0">
                <a:solidFill>
                  <a:srgbClr val="6B7B8D"/>
                </a:solidFill>
                <a:latin typeface="Calibri"/>
              </a:defRPr>
            </a:pPr>
            <a:r>
              <a:t>4 Masking Policies</a:t>
            </a:r>
            <a:br/>
            <a:r>
              <a:t>2 Row Access Policies</a:t>
            </a:r>
            <a:br/>
            <a:r>
              <a:t>8 RBAC Roles</a:t>
            </a:r>
            <a:br/>
            <a:r>
              <a:t>24M+ Audit Records</a:t>
            </a:r>
          </a:p>
        </p:txBody>
      </p:sp>
      <p:sp>
        <p:nvSpPr>
          <p:cNvPr id="63" name="Rectangle 62"/>
          <p:cNvSpPr/>
          <p:nvPr/>
        </p:nvSpPr>
        <p:spPr>
          <a:xfrm>
            <a:off x="457200" y="5806440"/>
            <a:ext cx="11064240" cy="502920"/>
          </a:xfrm>
          <a:prstGeom prst="rect">
            <a:avLst/>
          </a:prstGeom>
          <a:solidFill>
            <a:srgbClr val="11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31520" y="5852160"/>
            <a:ext cx="10515600" cy="411480"/>
          </a:xfrm>
          <a:prstGeom prst="rect">
            <a:avLst/>
          </a:prstGeom>
          <a:noFill/>
        </p:spPr>
        <p:txBody>
          <a:bodyPr wrap="square">
            <a:spAutoFit/>
          </a:bodyPr>
          <a:lstStyle/>
          <a:p>
            <a:pPr algn="ctr">
              <a:defRPr sz="1200" b="0">
                <a:solidFill>
                  <a:srgbClr val="FFFFFF"/>
                </a:solidFill>
                <a:latin typeface="Calibri"/>
              </a:defRPr>
            </a:pPr>
            <a:r>
              <a:t>OUTPUT  →  Streamlit 4-Page Command Center  •  Executive Dashboard  •  Policy Rules  •  Agent Chat  •  Live Investigation Queue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548640"/>
          </a:xfrm>
          <a:prstGeom prst="rect">
            <a:avLst/>
          </a:prstGeom>
          <a:noFill/>
        </p:spPr>
        <p:txBody>
          <a:bodyPr wrap="square">
            <a:spAutoFit/>
          </a:bodyPr>
          <a:lstStyle/>
          <a:p>
            <a:pPr algn="l">
              <a:defRPr sz="3200" b="1">
                <a:solidFill>
                  <a:srgbClr val="11274B"/>
                </a:solidFill>
                <a:latin typeface="Calibri"/>
              </a:defRPr>
            </a:pPr>
            <a:r>
              <a:t>CoCo CLI Skills Used &amp; How They Connect</a:t>
            </a:r>
          </a:p>
        </p:txBody>
      </p:sp>
      <p:sp>
        <p:nvSpPr>
          <p:cNvPr id="4" name="Rectangle 3"/>
          <p:cNvSpPr/>
          <p:nvPr/>
        </p:nvSpPr>
        <p:spPr>
          <a:xfrm>
            <a:off x="731520" y="960120"/>
            <a:ext cx="2286000"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280160"/>
            <a:ext cx="2057400" cy="28803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80160"/>
            <a:ext cx="2057400" cy="63500"/>
          </a:xfrm>
          <a:prstGeom prst="rect">
            <a:avLst/>
          </a:prstGeom>
          <a:solidFill>
            <a:srgbClr val="11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417320"/>
            <a:ext cx="1911096" cy="320040"/>
          </a:xfrm>
          <a:prstGeom prst="rect">
            <a:avLst/>
          </a:prstGeom>
          <a:noFill/>
        </p:spPr>
        <p:txBody>
          <a:bodyPr wrap="square">
            <a:spAutoFit/>
          </a:bodyPr>
          <a:lstStyle/>
          <a:p>
            <a:pPr algn="ctr">
              <a:defRPr sz="1200" b="1">
                <a:solidFill>
                  <a:srgbClr val="11274B"/>
                </a:solidFill>
                <a:latin typeface="Calibri"/>
              </a:defRPr>
            </a:pPr>
            <a:r>
              <a:t>1. SQL Author</a:t>
            </a:r>
          </a:p>
        </p:txBody>
      </p:sp>
      <p:sp>
        <p:nvSpPr>
          <p:cNvPr id="8" name="Rounded Rectangle 7"/>
          <p:cNvSpPr/>
          <p:nvPr/>
        </p:nvSpPr>
        <p:spPr>
          <a:xfrm>
            <a:off x="548640" y="1783080"/>
            <a:ext cx="1691640" cy="292608"/>
          </a:xfrm>
          <a:prstGeom prst="roundRect">
            <a:avLst/>
          </a:prstGeom>
          <a:solidFill>
            <a:srgbClr val="11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01368"/>
            <a:ext cx="1691640" cy="256032"/>
          </a:xfrm>
          <a:prstGeom prst="rect">
            <a:avLst/>
          </a:prstGeom>
          <a:noFill/>
        </p:spPr>
        <p:txBody>
          <a:bodyPr wrap="square">
            <a:spAutoFit/>
          </a:bodyPr>
          <a:lstStyle/>
          <a:p>
            <a:pPr algn="ctr">
              <a:defRPr sz="900" b="1">
                <a:solidFill>
                  <a:srgbClr val="FFFFFF"/>
                </a:solidFill>
                <a:latin typeface="Calibri"/>
              </a:defRPr>
            </a:pPr>
            <a:r>
              <a:t>sql-author</a:t>
            </a:r>
          </a:p>
        </p:txBody>
      </p:sp>
      <p:sp>
        <p:nvSpPr>
          <p:cNvPr id="10" name="TextBox 9"/>
          <p:cNvSpPr txBox="1"/>
          <p:nvPr/>
        </p:nvSpPr>
        <p:spPr>
          <a:xfrm>
            <a:off x="438912" y="2194560"/>
            <a:ext cx="1911096" cy="1828800"/>
          </a:xfrm>
          <a:prstGeom prst="rect">
            <a:avLst/>
          </a:prstGeom>
          <a:noFill/>
        </p:spPr>
        <p:txBody>
          <a:bodyPr wrap="square">
            <a:spAutoFit/>
          </a:bodyPr>
          <a:lstStyle/>
          <a:p>
            <a:pPr algn="ctr">
              <a:defRPr sz="1000" b="0">
                <a:solidFill>
                  <a:srgbClr val="6B7B8D"/>
                </a:solidFill>
                <a:latin typeface="Calibri"/>
              </a:defRPr>
            </a:pPr>
            <a:r>
              <a:t>All DDL, DML, environment</a:t>
            </a:r>
            <a:br/>
            <a:r>
              <a:t>setup, data generation,</a:t>
            </a:r>
            <a:br/>
            <a:r>
              <a:t>pipeline SQL, governance</a:t>
            </a:r>
            <a:br/>
            <a:r>
              <a:t>policies, grants</a:t>
            </a:r>
          </a:p>
        </p:txBody>
      </p:sp>
      <p:sp>
        <p:nvSpPr>
          <p:cNvPr id="11" name="Right Arrow 10"/>
          <p:cNvSpPr/>
          <p:nvPr/>
        </p:nvSpPr>
        <p:spPr>
          <a:xfrm>
            <a:off x="2423160" y="2468880"/>
            <a:ext cx="201168" cy="320040"/>
          </a:xfrm>
          <a:prstGeom prst="right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560320" y="1280160"/>
            <a:ext cx="2057400" cy="28803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0" y="1280160"/>
            <a:ext cx="2057400" cy="63500"/>
          </a:xfrm>
          <a:prstGeom prst="rect">
            <a:avLst/>
          </a:prstGeom>
          <a:solidFill>
            <a:srgbClr val="007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33472" y="1417320"/>
            <a:ext cx="1911096" cy="320040"/>
          </a:xfrm>
          <a:prstGeom prst="rect">
            <a:avLst/>
          </a:prstGeom>
          <a:noFill/>
        </p:spPr>
        <p:txBody>
          <a:bodyPr wrap="square">
            <a:spAutoFit/>
          </a:bodyPr>
          <a:lstStyle/>
          <a:p>
            <a:pPr algn="ctr">
              <a:defRPr sz="1200" b="1">
                <a:solidFill>
                  <a:srgbClr val="11274B"/>
                </a:solidFill>
                <a:latin typeface="Calibri"/>
              </a:defRPr>
            </a:pPr>
            <a:r>
              <a:t>2. Dynamic Tables</a:t>
            </a:r>
          </a:p>
        </p:txBody>
      </p:sp>
      <p:sp>
        <p:nvSpPr>
          <p:cNvPr id="15" name="Rounded Rectangle 14"/>
          <p:cNvSpPr/>
          <p:nvPr/>
        </p:nvSpPr>
        <p:spPr>
          <a:xfrm>
            <a:off x="2743200" y="1783080"/>
            <a:ext cx="1691640" cy="292608"/>
          </a:xfrm>
          <a:prstGeom prst="roundRect">
            <a:avLst/>
          </a:prstGeom>
          <a:solidFill>
            <a:srgbClr val="007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1801368"/>
            <a:ext cx="1691640" cy="256032"/>
          </a:xfrm>
          <a:prstGeom prst="rect">
            <a:avLst/>
          </a:prstGeom>
          <a:noFill/>
        </p:spPr>
        <p:txBody>
          <a:bodyPr wrap="square">
            <a:spAutoFit/>
          </a:bodyPr>
          <a:lstStyle/>
          <a:p>
            <a:pPr algn="ctr">
              <a:defRPr sz="900" b="1">
                <a:solidFill>
                  <a:srgbClr val="FFFFFF"/>
                </a:solidFill>
                <a:latin typeface="Calibri"/>
              </a:defRPr>
            </a:pPr>
            <a:r>
              <a:t>dynamic-tables</a:t>
            </a:r>
          </a:p>
        </p:txBody>
      </p:sp>
      <p:sp>
        <p:nvSpPr>
          <p:cNvPr id="17" name="TextBox 16"/>
          <p:cNvSpPr txBox="1"/>
          <p:nvPr/>
        </p:nvSpPr>
        <p:spPr>
          <a:xfrm>
            <a:off x="2633472" y="2194560"/>
            <a:ext cx="1911096" cy="1828800"/>
          </a:xfrm>
          <a:prstGeom prst="rect">
            <a:avLst/>
          </a:prstGeom>
          <a:noFill/>
        </p:spPr>
        <p:txBody>
          <a:bodyPr wrap="square">
            <a:spAutoFit/>
          </a:bodyPr>
          <a:lstStyle/>
          <a:p>
            <a:pPr algn="ctr">
              <a:defRPr sz="1000" b="0">
                <a:solidFill>
                  <a:srgbClr val="6B7B8D"/>
                </a:solidFill>
                <a:latin typeface="Calibri"/>
              </a:defRPr>
            </a:pPr>
            <a:r>
              <a:t>5 feature engineering</a:t>
            </a:r>
            <a:br/>
            <a:r>
              <a:t>pipelines with 1-min lag:</a:t>
            </a:r>
            <a:br/>
            <a:r>
              <a:t>dt_auth, dt_behavioral,</a:t>
            </a:r>
            <a:br/>
            <a:r>
              <a:t>dt_profile, dt_reputation,</a:t>
            </a:r>
            <a:br/>
            <a:r>
              <a:t>dt_scored_logins</a:t>
            </a:r>
          </a:p>
        </p:txBody>
      </p:sp>
      <p:sp>
        <p:nvSpPr>
          <p:cNvPr id="18" name="Right Arrow 17"/>
          <p:cNvSpPr/>
          <p:nvPr/>
        </p:nvSpPr>
        <p:spPr>
          <a:xfrm>
            <a:off x="4617720" y="2468880"/>
            <a:ext cx="201168" cy="320040"/>
          </a:xfrm>
          <a:prstGeom prst="right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54880" y="1280160"/>
            <a:ext cx="2057400" cy="28803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54880" y="1280160"/>
            <a:ext cx="2057400" cy="635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28032" y="1417320"/>
            <a:ext cx="1911096" cy="320040"/>
          </a:xfrm>
          <a:prstGeom prst="rect">
            <a:avLst/>
          </a:prstGeom>
          <a:noFill/>
        </p:spPr>
        <p:txBody>
          <a:bodyPr wrap="square">
            <a:spAutoFit/>
          </a:bodyPr>
          <a:lstStyle/>
          <a:p>
            <a:pPr algn="ctr">
              <a:defRPr sz="1200" b="1">
                <a:solidFill>
                  <a:srgbClr val="11274B"/>
                </a:solidFill>
                <a:latin typeface="Calibri"/>
              </a:defRPr>
            </a:pPr>
            <a:r>
              <a:t>3. Snowpark Python</a:t>
            </a:r>
          </a:p>
        </p:txBody>
      </p:sp>
      <p:sp>
        <p:nvSpPr>
          <p:cNvPr id="22" name="Rounded Rectangle 21"/>
          <p:cNvSpPr/>
          <p:nvPr/>
        </p:nvSpPr>
        <p:spPr>
          <a:xfrm>
            <a:off x="4937760" y="1783080"/>
            <a:ext cx="1691640" cy="292608"/>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0" y="1801368"/>
            <a:ext cx="1691640" cy="256032"/>
          </a:xfrm>
          <a:prstGeom prst="rect">
            <a:avLst/>
          </a:prstGeom>
          <a:noFill/>
        </p:spPr>
        <p:txBody>
          <a:bodyPr wrap="square">
            <a:spAutoFit/>
          </a:bodyPr>
          <a:lstStyle/>
          <a:p>
            <a:pPr algn="ctr">
              <a:defRPr sz="900" b="1">
                <a:solidFill>
                  <a:srgbClr val="FFFFFF"/>
                </a:solidFill>
                <a:latin typeface="Calibri"/>
              </a:defRPr>
            </a:pPr>
            <a:r>
              <a:t>snowpark-python</a:t>
            </a:r>
          </a:p>
        </p:txBody>
      </p:sp>
      <p:sp>
        <p:nvSpPr>
          <p:cNvPr id="24" name="TextBox 23"/>
          <p:cNvSpPr txBox="1"/>
          <p:nvPr/>
        </p:nvSpPr>
        <p:spPr>
          <a:xfrm>
            <a:off x="4828032" y="2194560"/>
            <a:ext cx="1911096" cy="1828800"/>
          </a:xfrm>
          <a:prstGeom prst="rect">
            <a:avLst/>
          </a:prstGeom>
          <a:noFill/>
        </p:spPr>
        <p:txBody>
          <a:bodyPr wrap="square">
            <a:spAutoFit/>
          </a:bodyPr>
          <a:lstStyle/>
          <a:p>
            <a:pPr algn="ctr">
              <a:defRPr sz="1000" b="0">
                <a:solidFill>
                  <a:srgbClr val="6B7B8D"/>
                </a:solidFill>
                <a:latin typeface="Calibri"/>
              </a:defRPr>
            </a:pPr>
            <a:r>
              <a:t>XGBoost &amp; Isolation Forest</a:t>
            </a:r>
            <a:br/>
            <a:r>
              <a:t>training, graph features,</a:t>
            </a:r>
            <a:br/>
            <a:r>
              <a:t>ensemble scoring, model</a:t>
            </a:r>
            <a:br/>
            <a:r>
              <a:t>registry, deploy UDFs</a:t>
            </a:r>
          </a:p>
        </p:txBody>
      </p:sp>
      <p:sp>
        <p:nvSpPr>
          <p:cNvPr id="25" name="Right Arrow 24"/>
          <p:cNvSpPr/>
          <p:nvPr/>
        </p:nvSpPr>
        <p:spPr>
          <a:xfrm>
            <a:off x="6812280" y="2468880"/>
            <a:ext cx="201168" cy="320040"/>
          </a:xfrm>
          <a:prstGeom prst="right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949440" y="1280160"/>
            <a:ext cx="2057400" cy="28803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49440" y="1280160"/>
            <a:ext cx="2057400" cy="635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22592" y="1417320"/>
            <a:ext cx="1911096" cy="320040"/>
          </a:xfrm>
          <a:prstGeom prst="rect">
            <a:avLst/>
          </a:prstGeom>
          <a:noFill/>
        </p:spPr>
        <p:txBody>
          <a:bodyPr wrap="square">
            <a:spAutoFit/>
          </a:bodyPr>
          <a:lstStyle/>
          <a:p>
            <a:pPr algn="ctr">
              <a:defRPr sz="1200" b="1">
                <a:solidFill>
                  <a:srgbClr val="11274B"/>
                </a:solidFill>
                <a:latin typeface="Calibri"/>
              </a:defRPr>
            </a:pPr>
            <a:r>
              <a:t>4. Agent Studio</a:t>
            </a:r>
          </a:p>
        </p:txBody>
      </p:sp>
      <p:sp>
        <p:nvSpPr>
          <p:cNvPr id="29" name="Rounded Rectangle 28"/>
          <p:cNvSpPr/>
          <p:nvPr/>
        </p:nvSpPr>
        <p:spPr>
          <a:xfrm>
            <a:off x="7132320" y="1783080"/>
            <a:ext cx="1691640" cy="292608"/>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0" y="1801368"/>
            <a:ext cx="1691640" cy="256032"/>
          </a:xfrm>
          <a:prstGeom prst="rect">
            <a:avLst/>
          </a:prstGeom>
          <a:noFill/>
        </p:spPr>
        <p:txBody>
          <a:bodyPr wrap="square">
            <a:spAutoFit/>
          </a:bodyPr>
          <a:lstStyle/>
          <a:p>
            <a:pPr algn="ctr">
              <a:defRPr sz="900" b="1">
                <a:solidFill>
                  <a:srgbClr val="FFFFFF"/>
                </a:solidFill>
                <a:latin typeface="Calibri"/>
              </a:defRPr>
            </a:pPr>
            <a:r>
              <a:t>agent-studio</a:t>
            </a:r>
          </a:p>
        </p:txBody>
      </p:sp>
      <p:sp>
        <p:nvSpPr>
          <p:cNvPr id="31" name="TextBox 30"/>
          <p:cNvSpPr txBox="1"/>
          <p:nvPr/>
        </p:nvSpPr>
        <p:spPr>
          <a:xfrm>
            <a:off x="7022592" y="2194560"/>
            <a:ext cx="1911096" cy="1828800"/>
          </a:xfrm>
          <a:prstGeom prst="rect">
            <a:avLst/>
          </a:prstGeom>
          <a:noFill/>
        </p:spPr>
        <p:txBody>
          <a:bodyPr wrap="square">
            <a:spAutoFit/>
          </a:bodyPr>
          <a:lstStyle/>
          <a:p>
            <a:pPr algn="ctr">
              <a:defRPr sz="1000" b="0">
                <a:solidFill>
                  <a:srgbClr val="6B7B8D"/>
                </a:solidFill>
                <a:latin typeface="Calibri"/>
              </a:defRPr>
            </a:pPr>
            <a:r>
              <a:t>Semantic View YAML (648L),</a:t>
            </a:r>
            <a:br/>
            <a:r>
              <a:t>14+ VQRs, Cortex Agent</a:t>
            </a:r>
            <a:br/>
            <a:r>
              <a:t>spec, 3-channel routing,</a:t>
            </a:r>
            <a:br/>
            <a:r>
              <a:t>system prompt design</a:t>
            </a:r>
          </a:p>
        </p:txBody>
      </p:sp>
      <p:sp>
        <p:nvSpPr>
          <p:cNvPr id="32" name="Right Arrow 31"/>
          <p:cNvSpPr/>
          <p:nvPr/>
        </p:nvSpPr>
        <p:spPr>
          <a:xfrm>
            <a:off x="9006840" y="2468880"/>
            <a:ext cx="201168" cy="320040"/>
          </a:xfrm>
          <a:prstGeom prst="right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0" y="1280160"/>
            <a:ext cx="2057400" cy="28803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4000" y="1280160"/>
            <a:ext cx="2057400" cy="635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17152" y="1417320"/>
            <a:ext cx="1911096" cy="320040"/>
          </a:xfrm>
          <a:prstGeom prst="rect">
            <a:avLst/>
          </a:prstGeom>
          <a:noFill/>
        </p:spPr>
        <p:txBody>
          <a:bodyPr wrap="square">
            <a:spAutoFit/>
          </a:bodyPr>
          <a:lstStyle/>
          <a:p>
            <a:pPr algn="ctr">
              <a:defRPr sz="1200" b="1">
                <a:solidFill>
                  <a:srgbClr val="11274B"/>
                </a:solidFill>
                <a:latin typeface="Calibri"/>
              </a:defRPr>
            </a:pPr>
            <a:r>
              <a:t>5. Streamlit</a:t>
            </a:r>
          </a:p>
        </p:txBody>
      </p:sp>
      <p:sp>
        <p:nvSpPr>
          <p:cNvPr id="36" name="Rounded Rectangle 35"/>
          <p:cNvSpPr/>
          <p:nvPr/>
        </p:nvSpPr>
        <p:spPr>
          <a:xfrm>
            <a:off x="9326880" y="1783080"/>
            <a:ext cx="1691640" cy="29260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80" y="1801368"/>
            <a:ext cx="1691640" cy="256032"/>
          </a:xfrm>
          <a:prstGeom prst="rect">
            <a:avLst/>
          </a:prstGeom>
          <a:noFill/>
        </p:spPr>
        <p:txBody>
          <a:bodyPr wrap="square">
            <a:spAutoFit/>
          </a:bodyPr>
          <a:lstStyle/>
          <a:p>
            <a:pPr algn="ctr">
              <a:defRPr sz="900" b="1">
                <a:solidFill>
                  <a:srgbClr val="FFFFFF"/>
                </a:solidFill>
                <a:latin typeface="Calibri"/>
              </a:defRPr>
            </a:pPr>
            <a:r>
              <a:t>streamlit-in-workspaces</a:t>
            </a:r>
          </a:p>
        </p:txBody>
      </p:sp>
      <p:sp>
        <p:nvSpPr>
          <p:cNvPr id="38" name="TextBox 37"/>
          <p:cNvSpPr txBox="1"/>
          <p:nvPr/>
        </p:nvSpPr>
        <p:spPr>
          <a:xfrm>
            <a:off x="9217152" y="2194560"/>
            <a:ext cx="1911096" cy="1828800"/>
          </a:xfrm>
          <a:prstGeom prst="rect">
            <a:avLst/>
          </a:prstGeom>
          <a:noFill/>
        </p:spPr>
        <p:txBody>
          <a:bodyPr wrap="square">
            <a:spAutoFit/>
          </a:bodyPr>
          <a:lstStyle/>
          <a:p>
            <a:pPr algn="ctr">
              <a:defRPr sz="1000" b="0">
                <a:solidFill>
                  <a:srgbClr val="6B7B8D"/>
                </a:solidFill>
                <a:latin typeface="Calibri"/>
              </a:defRPr>
            </a:pPr>
            <a:r>
              <a:t>4-page Command Center:</a:t>
            </a:r>
            <a:br/>
            <a:r>
              <a:t>Dashboard, Policy Rules,</a:t>
            </a:r>
            <a:br/>
            <a:r>
              <a:t>Agent Chat, Investigation</a:t>
            </a:r>
            <a:br/>
            <a:r>
              <a:t>Queue + Container Runtime</a:t>
            </a:r>
          </a:p>
        </p:txBody>
      </p:sp>
      <p:sp>
        <p:nvSpPr>
          <p:cNvPr id="39" name="TextBox 38"/>
          <p:cNvSpPr txBox="1"/>
          <p:nvPr/>
        </p:nvSpPr>
        <p:spPr>
          <a:xfrm>
            <a:off x="457200" y="4343400"/>
            <a:ext cx="10972800" cy="320040"/>
          </a:xfrm>
          <a:prstGeom prst="rect">
            <a:avLst/>
          </a:prstGeom>
          <a:noFill/>
        </p:spPr>
        <p:txBody>
          <a:bodyPr wrap="square">
            <a:spAutoFit/>
          </a:bodyPr>
          <a:lstStyle/>
          <a:p>
            <a:pPr algn="l">
              <a:defRPr sz="1200" b="1">
                <a:solidFill>
                  <a:srgbClr val="11274B"/>
                </a:solidFill>
                <a:latin typeface="Calibri"/>
              </a:defRPr>
            </a:pPr>
            <a:r>
              <a:t>SUPPORTING SKILLS (cross-cutting)</a:t>
            </a:r>
          </a:p>
        </p:txBody>
      </p:sp>
      <p:sp>
        <p:nvSpPr>
          <p:cNvPr id="40" name="Rounded Rectangle 39"/>
          <p:cNvSpPr/>
          <p:nvPr/>
        </p:nvSpPr>
        <p:spPr>
          <a:xfrm>
            <a:off x="365760" y="4709160"/>
            <a:ext cx="2057400" cy="14173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02920" y="4800600"/>
            <a:ext cx="1783080" cy="292608"/>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4818888"/>
            <a:ext cx="1783080" cy="256032"/>
          </a:xfrm>
          <a:prstGeom prst="rect">
            <a:avLst/>
          </a:prstGeom>
          <a:noFill/>
        </p:spPr>
        <p:txBody>
          <a:bodyPr wrap="square">
            <a:spAutoFit/>
          </a:bodyPr>
          <a:lstStyle/>
          <a:p>
            <a:pPr algn="ctr">
              <a:defRPr sz="900" b="1">
                <a:solidFill>
                  <a:srgbClr val="FFFFFF"/>
                </a:solidFill>
                <a:latin typeface="Calibri"/>
              </a:defRPr>
            </a:pPr>
            <a:r>
              <a:t>data-governance</a:t>
            </a:r>
          </a:p>
        </p:txBody>
      </p:sp>
      <p:sp>
        <p:nvSpPr>
          <p:cNvPr id="43" name="TextBox 42"/>
          <p:cNvSpPr txBox="1"/>
          <p:nvPr/>
        </p:nvSpPr>
        <p:spPr>
          <a:xfrm>
            <a:off x="438912" y="5166360"/>
            <a:ext cx="1911096" cy="868680"/>
          </a:xfrm>
          <a:prstGeom prst="rect">
            <a:avLst/>
          </a:prstGeom>
          <a:noFill/>
        </p:spPr>
        <p:txBody>
          <a:bodyPr wrap="square">
            <a:spAutoFit/>
          </a:bodyPr>
          <a:lstStyle/>
          <a:p>
            <a:pPr algn="ctr">
              <a:defRPr sz="1000" b="0">
                <a:solidFill>
                  <a:srgbClr val="6B7B8D"/>
                </a:solidFill>
                <a:latin typeface="Calibri"/>
              </a:defRPr>
            </a:pPr>
            <a:r>
              <a:t>Masking policies, RAP, RBAC,</a:t>
            </a:r>
            <a:br/>
            <a:r>
              <a:t>tag-based access control</a:t>
            </a:r>
          </a:p>
        </p:txBody>
      </p:sp>
      <p:sp>
        <p:nvSpPr>
          <p:cNvPr id="44" name="Rounded Rectangle 43"/>
          <p:cNvSpPr/>
          <p:nvPr/>
        </p:nvSpPr>
        <p:spPr>
          <a:xfrm>
            <a:off x="2560320" y="4709160"/>
            <a:ext cx="2057400" cy="14173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2697480" y="4800600"/>
            <a:ext cx="1783080" cy="292608"/>
          </a:xfrm>
          <a:prstGeom prst="round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97480" y="4818888"/>
            <a:ext cx="1783080" cy="256032"/>
          </a:xfrm>
          <a:prstGeom prst="rect">
            <a:avLst/>
          </a:prstGeom>
          <a:noFill/>
        </p:spPr>
        <p:txBody>
          <a:bodyPr wrap="square">
            <a:spAutoFit/>
          </a:bodyPr>
          <a:lstStyle/>
          <a:p>
            <a:pPr algn="ctr">
              <a:defRPr sz="900" b="1">
                <a:solidFill>
                  <a:srgbClr val="FFFFFF"/>
                </a:solidFill>
                <a:latin typeface="Calibri"/>
              </a:defRPr>
            </a:pPr>
            <a:r>
              <a:t>data-quality</a:t>
            </a:r>
          </a:p>
        </p:txBody>
      </p:sp>
      <p:sp>
        <p:nvSpPr>
          <p:cNvPr id="47" name="TextBox 46"/>
          <p:cNvSpPr txBox="1"/>
          <p:nvPr/>
        </p:nvSpPr>
        <p:spPr>
          <a:xfrm>
            <a:off x="2633472" y="5166360"/>
            <a:ext cx="1911096" cy="868680"/>
          </a:xfrm>
          <a:prstGeom prst="rect">
            <a:avLst/>
          </a:prstGeom>
          <a:noFill/>
        </p:spPr>
        <p:txBody>
          <a:bodyPr wrap="square">
            <a:spAutoFit/>
          </a:bodyPr>
          <a:lstStyle/>
          <a:p>
            <a:pPr algn="ctr">
              <a:defRPr sz="1000" b="0">
                <a:solidFill>
                  <a:srgbClr val="6B7B8D"/>
                </a:solidFill>
                <a:latin typeface="Calibri"/>
              </a:defRPr>
            </a:pPr>
            <a:r>
              <a:t>Data Metric Functions, freshness</a:t>
            </a:r>
            <a:br/>
            <a:r>
              <a:t>checks, pipeline validation</a:t>
            </a:r>
          </a:p>
        </p:txBody>
      </p:sp>
      <p:sp>
        <p:nvSpPr>
          <p:cNvPr id="48" name="Rounded Rectangle 47"/>
          <p:cNvSpPr/>
          <p:nvPr/>
        </p:nvSpPr>
        <p:spPr>
          <a:xfrm>
            <a:off x="4754880" y="4709160"/>
            <a:ext cx="2057400" cy="14173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4892040" y="4800600"/>
            <a:ext cx="1783080" cy="292608"/>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92040" y="4818888"/>
            <a:ext cx="1783080" cy="256032"/>
          </a:xfrm>
          <a:prstGeom prst="rect">
            <a:avLst/>
          </a:prstGeom>
          <a:noFill/>
        </p:spPr>
        <p:txBody>
          <a:bodyPr wrap="square">
            <a:spAutoFit/>
          </a:bodyPr>
          <a:lstStyle/>
          <a:p>
            <a:pPr algn="ctr">
              <a:defRPr sz="900" b="1">
                <a:solidFill>
                  <a:srgbClr val="FFFFFF"/>
                </a:solidFill>
                <a:latin typeface="Calibri"/>
              </a:defRPr>
            </a:pPr>
            <a:r>
              <a:t>machine-learning</a:t>
            </a:r>
          </a:p>
        </p:txBody>
      </p:sp>
      <p:sp>
        <p:nvSpPr>
          <p:cNvPr id="51" name="TextBox 50"/>
          <p:cNvSpPr txBox="1"/>
          <p:nvPr/>
        </p:nvSpPr>
        <p:spPr>
          <a:xfrm>
            <a:off x="4828032" y="5166360"/>
            <a:ext cx="1911096" cy="868680"/>
          </a:xfrm>
          <a:prstGeom prst="rect">
            <a:avLst/>
          </a:prstGeom>
          <a:noFill/>
        </p:spPr>
        <p:txBody>
          <a:bodyPr wrap="square">
            <a:spAutoFit/>
          </a:bodyPr>
          <a:lstStyle/>
          <a:p>
            <a:pPr algn="ctr">
              <a:defRPr sz="1000" b="0">
                <a:solidFill>
                  <a:srgbClr val="6B7B8D"/>
                </a:solidFill>
                <a:latin typeface="Calibri"/>
              </a:defRPr>
            </a:pPr>
            <a:r>
              <a:t>Model Registry, versioning,</a:t>
            </a:r>
            <a:br/>
            <a:r>
              <a:t>leakage guards, metrics tracking</a:t>
            </a:r>
          </a:p>
        </p:txBody>
      </p:sp>
      <p:sp>
        <p:nvSpPr>
          <p:cNvPr id="52" name="Rounded Rectangle 51"/>
          <p:cNvSpPr/>
          <p:nvPr/>
        </p:nvSpPr>
        <p:spPr>
          <a:xfrm>
            <a:off x="6949440" y="4709160"/>
            <a:ext cx="2057400" cy="14173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7086600" y="4800600"/>
            <a:ext cx="1783080" cy="292608"/>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086600" y="4818888"/>
            <a:ext cx="1783080" cy="256032"/>
          </a:xfrm>
          <a:prstGeom prst="rect">
            <a:avLst/>
          </a:prstGeom>
          <a:noFill/>
        </p:spPr>
        <p:txBody>
          <a:bodyPr wrap="square">
            <a:spAutoFit/>
          </a:bodyPr>
          <a:lstStyle/>
          <a:p>
            <a:pPr algn="ctr">
              <a:defRPr sz="900" b="1">
                <a:solidFill>
                  <a:srgbClr val="FFFFFF"/>
                </a:solidFill>
                <a:latin typeface="Calibri"/>
              </a:defRPr>
            </a:pPr>
            <a:r>
              <a:t>cortex-ai-function-studio</a:t>
            </a:r>
          </a:p>
        </p:txBody>
      </p:sp>
      <p:sp>
        <p:nvSpPr>
          <p:cNvPr id="55" name="TextBox 54"/>
          <p:cNvSpPr txBox="1"/>
          <p:nvPr/>
        </p:nvSpPr>
        <p:spPr>
          <a:xfrm>
            <a:off x="7022592" y="5166360"/>
            <a:ext cx="1911096" cy="868680"/>
          </a:xfrm>
          <a:prstGeom prst="rect">
            <a:avLst/>
          </a:prstGeom>
          <a:noFill/>
        </p:spPr>
        <p:txBody>
          <a:bodyPr wrap="square">
            <a:spAutoFit/>
          </a:bodyPr>
          <a:lstStyle/>
          <a:p>
            <a:pPr algn="ctr">
              <a:defRPr sz="1000" b="0">
                <a:solidFill>
                  <a:srgbClr val="6B7B8D"/>
                </a:solidFill>
                <a:latin typeface="Calibri"/>
              </a:defRPr>
            </a:pPr>
            <a:r>
              <a:t>Cortex Search, arctic-embed,</a:t>
            </a:r>
            <a:br/>
            <a:r>
              <a:t>policy document indexing</a:t>
            </a:r>
          </a:p>
        </p:txBody>
      </p:sp>
      <p:sp>
        <p:nvSpPr>
          <p:cNvPr id="56" name="Rounded Rectangle 55"/>
          <p:cNvSpPr/>
          <p:nvPr/>
        </p:nvSpPr>
        <p:spPr>
          <a:xfrm>
            <a:off x="9144000" y="4709160"/>
            <a:ext cx="2057400" cy="14173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9281160" y="4800600"/>
            <a:ext cx="1783080" cy="29260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281160" y="4818888"/>
            <a:ext cx="1783080" cy="256032"/>
          </a:xfrm>
          <a:prstGeom prst="rect">
            <a:avLst/>
          </a:prstGeom>
          <a:noFill/>
        </p:spPr>
        <p:txBody>
          <a:bodyPr wrap="square">
            <a:spAutoFit/>
          </a:bodyPr>
          <a:lstStyle/>
          <a:p>
            <a:pPr algn="ctr">
              <a:defRPr sz="900" b="1">
                <a:solidFill>
                  <a:srgbClr val="FFFFFF"/>
                </a:solidFill>
                <a:latin typeface="Calibri"/>
              </a:defRPr>
            </a:pPr>
            <a:r>
              <a:t>skill-development</a:t>
            </a:r>
          </a:p>
        </p:txBody>
      </p:sp>
      <p:sp>
        <p:nvSpPr>
          <p:cNvPr id="59" name="TextBox 58"/>
          <p:cNvSpPr txBox="1"/>
          <p:nvPr/>
        </p:nvSpPr>
        <p:spPr>
          <a:xfrm>
            <a:off x="9217152" y="5166360"/>
            <a:ext cx="1911096" cy="868680"/>
          </a:xfrm>
          <a:prstGeom prst="rect">
            <a:avLst/>
          </a:prstGeom>
          <a:noFill/>
        </p:spPr>
        <p:txBody>
          <a:bodyPr wrap="square">
            <a:spAutoFit/>
          </a:bodyPr>
          <a:lstStyle/>
          <a:p>
            <a:pPr algn="ctr">
              <a:defRPr sz="1000" b="0">
                <a:solidFill>
                  <a:srgbClr val="6B7B8D"/>
                </a:solidFill>
                <a:latin typeface="Calibri"/>
              </a:defRPr>
            </a:pPr>
            <a:r>
              <a:t>MCP server for Federal Register</a:t>
            </a:r>
            <a:br/>
            <a:r>
              <a:t>API (FastMCP, JSON-RPC 2.0)</a:t>
            </a:r>
          </a:p>
        </p:txBody>
      </p:sp>
      <p:sp>
        <p:nvSpPr>
          <p:cNvPr id="60" name="Rectangle 59"/>
          <p:cNvSpPr/>
          <p:nvPr/>
        </p:nvSpPr>
        <p:spPr>
          <a:xfrm>
            <a:off x="365760" y="6309360"/>
            <a:ext cx="11155680" cy="365760"/>
          </a:xfrm>
          <a:prstGeom prst="rect">
            <a:avLst/>
          </a:prstGeom>
          <a:solidFill>
            <a:srgbClr val="11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8640" y="6327648"/>
            <a:ext cx="10789920" cy="320040"/>
          </a:xfrm>
          <a:prstGeom prst="rect">
            <a:avLst/>
          </a:prstGeom>
          <a:noFill/>
        </p:spPr>
        <p:txBody>
          <a:bodyPr wrap="square">
            <a:spAutoFit/>
          </a:bodyPr>
          <a:lstStyle/>
          <a:p>
            <a:pPr algn="ctr">
              <a:defRPr sz="1100" b="0">
                <a:solidFill>
                  <a:srgbClr val="FFFFFF"/>
                </a:solidFill>
                <a:latin typeface="Calibri"/>
              </a:defRPr>
            </a:pPr>
            <a:r>
              <a:t>10 CoCo skills orchestrated  •  Each skill maps to a modular component  •  Skills are composable and independently testable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548640"/>
          </a:xfrm>
          <a:prstGeom prst="rect">
            <a:avLst/>
          </a:prstGeom>
          <a:noFill/>
        </p:spPr>
        <p:txBody>
          <a:bodyPr wrap="square">
            <a:spAutoFit/>
          </a:bodyPr>
          <a:lstStyle/>
          <a:p>
            <a:pPr algn="l">
              <a:defRPr sz="3200" b="1">
                <a:solidFill>
                  <a:srgbClr val="11274B"/>
                </a:solidFill>
                <a:latin typeface="Calibri"/>
              </a:defRPr>
            </a:pPr>
            <a:r>
              <a:t>4-Layer ML Ensemble</a:t>
            </a:r>
          </a:p>
        </p:txBody>
      </p:sp>
      <p:sp>
        <p:nvSpPr>
          <p:cNvPr id="4" name="Rectangle 3"/>
          <p:cNvSpPr/>
          <p:nvPr/>
        </p:nvSpPr>
        <p:spPr>
          <a:xfrm>
            <a:off x="731520" y="960120"/>
            <a:ext cx="2286000"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2606040" cy="43891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2606040" cy="50292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9888"/>
            <a:ext cx="2423160" cy="457200"/>
          </a:xfrm>
          <a:prstGeom prst="rect">
            <a:avLst/>
          </a:prstGeom>
          <a:noFill/>
        </p:spPr>
        <p:txBody>
          <a:bodyPr wrap="square">
            <a:spAutoFit/>
          </a:bodyPr>
          <a:lstStyle/>
          <a:p>
            <a:pPr algn="ctr">
              <a:defRPr sz="1300" b="1">
                <a:solidFill>
                  <a:srgbClr val="FFFFFF"/>
                </a:solidFill>
                <a:latin typeface="Calibri"/>
              </a:defRPr>
            </a:pPr>
            <a:r>
              <a:t>Layer 1: XGBoost</a:t>
            </a:r>
          </a:p>
        </p:txBody>
      </p:sp>
      <p:sp>
        <p:nvSpPr>
          <p:cNvPr id="8" name="Rounded Rectangle 7"/>
          <p:cNvSpPr/>
          <p:nvPr/>
        </p:nvSpPr>
        <p:spPr>
          <a:xfrm>
            <a:off x="1371600" y="2011680"/>
            <a:ext cx="914400" cy="411480"/>
          </a:xfrm>
          <a:prstGeom prst="round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029968"/>
            <a:ext cx="914400" cy="365760"/>
          </a:xfrm>
          <a:prstGeom prst="rect">
            <a:avLst/>
          </a:prstGeom>
          <a:noFill/>
        </p:spPr>
        <p:txBody>
          <a:bodyPr wrap="square">
            <a:spAutoFit/>
          </a:bodyPr>
          <a:lstStyle/>
          <a:p>
            <a:pPr algn="ctr">
              <a:defRPr sz="1100" b="1">
                <a:solidFill>
                  <a:srgbClr val="FFFFFF"/>
                </a:solidFill>
                <a:latin typeface="Calibri"/>
              </a:defRPr>
            </a:pPr>
            <a:r>
              <a:t>Weight: 50%</a:t>
            </a:r>
          </a:p>
        </p:txBody>
      </p:sp>
      <p:sp>
        <p:nvSpPr>
          <p:cNvPr id="10" name="TextBox 9"/>
          <p:cNvSpPr txBox="1"/>
          <p:nvPr/>
        </p:nvSpPr>
        <p:spPr>
          <a:xfrm>
            <a:off x="640080" y="2560320"/>
            <a:ext cx="2423160" cy="320040"/>
          </a:xfrm>
          <a:prstGeom prst="rect">
            <a:avLst/>
          </a:prstGeom>
          <a:noFill/>
        </p:spPr>
        <p:txBody>
          <a:bodyPr wrap="square">
            <a:spAutoFit/>
          </a:bodyPr>
          <a:lstStyle/>
          <a:p>
            <a:pPr algn="ctr">
              <a:defRPr sz="1100" b="1">
                <a:solidFill>
                  <a:srgbClr val="29B5E8"/>
                </a:solidFill>
                <a:latin typeface="Calibri"/>
              </a:defRPr>
            </a:pPr>
            <a:r>
              <a:t>Supervised Classifier</a:t>
            </a:r>
          </a:p>
        </p:txBody>
      </p:sp>
      <p:sp>
        <p:nvSpPr>
          <p:cNvPr id="11" name="TextBox 10"/>
          <p:cNvSpPr txBox="1"/>
          <p:nvPr/>
        </p:nvSpPr>
        <p:spPr>
          <a:xfrm>
            <a:off x="685800" y="3017520"/>
            <a:ext cx="2331720" cy="2560320"/>
          </a:xfrm>
          <a:prstGeom prst="rect">
            <a:avLst/>
          </a:prstGeom>
          <a:noFill/>
        </p:spPr>
        <p:txBody>
          <a:bodyPr wrap="square">
            <a:spAutoFit/>
          </a:bodyPr>
          <a:lstStyle/>
          <a:p>
            <a:pPr algn="ctr">
              <a:defRPr sz="1100" b="0">
                <a:solidFill>
                  <a:srgbClr val="6B7B8D"/>
                </a:solidFill>
                <a:latin typeface="Calibri"/>
              </a:defRPr>
            </a:pPr>
            <a:r>
              <a:t>19 features  •  Temporal train/test split</a:t>
            </a:r>
            <a:br/>
            <a:r>
              <a:t>Noise injection (5 strategies)</a:t>
            </a:r>
            <a:br/>
            <a:r>
              <a:t>Leakage guard (AUC &gt; 0.95 = reject)</a:t>
            </a:r>
            <a:br/>
            <a:r>
              <a:t>ROC-AUC: 0.804  •  PR-AUC: 0.949</a:t>
            </a:r>
          </a:p>
        </p:txBody>
      </p:sp>
      <p:sp>
        <p:nvSpPr>
          <p:cNvPr id="12" name="Rounded Rectangle 11"/>
          <p:cNvSpPr/>
          <p:nvPr/>
        </p:nvSpPr>
        <p:spPr>
          <a:xfrm>
            <a:off x="3383280" y="1371600"/>
            <a:ext cx="2606040" cy="43891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83280" y="1371600"/>
            <a:ext cx="2606040" cy="502920"/>
          </a:xfrm>
          <a:prstGeom prst="rect">
            <a:avLst/>
          </a:prstGeom>
          <a:solidFill>
            <a:srgbClr val="007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1389888"/>
            <a:ext cx="2423160" cy="457200"/>
          </a:xfrm>
          <a:prstGeom prst="rect">
            <a:avLst/>
          </a:prstGeom>
          <a:noFill/>
        </p:spPr>
        <p:txBody>
          <a:bodyPr wrap="square">
            <a:spAutoFit/>
          </a:bodyPr>
          <a:lstStyle/>
          <a:p>
            <a:pPr algn="ctr">
              <a:defRPr sz="1300" b="1">
                <a:solidFill>
                  <a:srgbClr val="FFFFFF"/>
                </a:solidFill>
                <a:latin typeface="Calibri"/>
              </a:defRPr>
            </a:pPr>
            <a:r>
              <a:t>Layer 2: Isolation Forest</a:t>
            </a:r>
          </a:p>
        </p:txBody>
      </p:sp>
      <p:sp>
        <p:nvSpPr>
          <p:cNvPr id="15" name="Rounded Rectangle 14"/>
          <p:cNvSpPr/>
          <p:nvPr/>
        </p:nvSpPr>
        <p:spPr>
          <a:xfrm>
            <a:off x="4206240" y="2011680"/>
            <a:ext cx="914400" cy="411480"/>
          </a:xfrm>
          <a:prstGeom prst="roundRect">
            <a:avLst/>
          </a:prstGeom>
          <a:solidFill>
            <a:srgbClr val="007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2029968"/>
            <a:ext cx="914400" cy="365760"/>
          </a:xfrm>
          <a:prstGeom prst="rect">
            <a:avLst/>
          </a:prstGeom>
          <a:noFill/>
        </p:spPr>
        <p:txBody>
          <a:bodyPr wrap="square">
            <a:spAutoFit/>
          </a:bodyPr>
          <a:lstStyle/>
          <a:p>
            <a:pPr algn="ctr">
              <a:defRPr sz="1100" b="1">
                <a:solidFill>
                  <a:srgbClr val="FFFFFF"/>
                </a:solidFill>
                <a:latin typeface="Calibri"/>
              </a:defRPr>
            </a:pPr>
            <a:r>
              <a:t>Weight: 30%</a:t>
            </a:r>
          </a:p>
        </p:txBody>
      </p:sp>
      <p:sp>
        <p:nvSpPr>
          <p:cNvPr id="17" name="TextBox 16"/>
          <p:cNvSpPr txBox="1"/>
          <p:nvPr/>
        </p:nvSpPr>
        <p:spPr>
          <a:xfrm>
            <a:off x="3474720" y="2560320"/>
            <a:ext cx="2423160" cy="320040"/>
          </a:xfrm>
          <a:prstGeom prst="rect">
            <a:avLst/>
          </a:prstGeom>
          <a:noFill/>
        </p:spPr>
        <p:txBody>
          <a:bodyPr wrap="square">
            <a:spAutoFit/>
          </a:bodyPr>
          <a:lstStyle/>
          <a:p>
            <a:pPr algn="ctr">
              <a:defRPr sz="1100" b="1">
                <a:solidFill>
                  <a:srgbClr val="007EB5"/>
                </a:solidFill>
                <a:latin typeface="Calibri"/>
              </a:defRPr>
            </a:pPr>
            <a:r>
              <a:t>Unsupervised Anomaly</a:t>
            </a:r>
          </a:p>
        </p:txBody>
      </p:sp>
      <p:sp>
        <p:nvSpPr>
          <p:cNvPr id="18" name="TextBox 17"/>
          <p:cNvSpPr txBox="1"/>
          <p:nvPr/>
        </p:nvSpPr>
        <p:spPr>
          <a:xfrm>
            <a:off x="3520440" y="3017520"/>
            <a:ext cx="2331720" cy="2560320"/>
          </a:xfrm>
          <a:prstGeom prst="rect">
            <a:avLst/>
          </a:prstGeom>
          <a:noFill/>
        </p:spPr>
        <p:txBody>
          <a:bodyPr wrap="square">
            <a:spAutoFit/>
          </a:bodyPr>
          <a:lstStyle/>
          <a:p>
            <a:pPr algn="ctr">
              <a:defRPr sz="1100" b="0">
                <a:solidFill>
                  <a:srgbClr val="6B7B8D"/>
                </a:solidFill>
                <a:latin typeface="Calibri"/>
              </a:defRPr>
            </a:pPr>
            <a:r>
              <a:t>8 behavioral features</a:t>
            </a:r>
            <a:br/>
            <a:r>
              <a:t>Trained on legitimate traffic only</a:t>
            </a:r>
            <a:br/>
            <a:r>
              <a:t>Zero-day attack detection</a:t>
            </a:r>
            <a:br/>
            <a:r>
              <a:t>ROC-AUC: 0.615  •  PR-AUC: 0.594</a:t>
            </a:r>
          </a:p>
        </p:txBody>
      </p:sp>
      <p:sp>
        <p:nvSpPr>
          <p:cNvPr id="19" name="Rounded Rectangle 18"/>
          <p:cNvSpPr/>
          <p:nvPr/>
        </p:nvSpPr>
        <p:spPr>
          <a:xfrm>
            <a:off x="6217920" y="1371600"/>
            <a:ext cx="2606040" cy="43891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371600"/>
            <a:ext cx="2606040" cy="5029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1389888"/>
            <a:ext cx="2423160" cy="457200"/>
          </a:xfrm>
          <a:prstGeom prst="rect">
            <a:avLst/>
          </a:prstGeom>
          <a:noFill/>
        </p:spPr>
        <p:txBody>
          <a:bodyPr wrap="square">
            <a:spAutoFit/>
          </a:bodyPr>
          <a:lstStyle/>
          <a:p>
            <a:pPr algn="ctr">
              <a:defRPr sz="1300" b="1">
                <a:solidFill>
                  <a:srgbClr val="FFFFFF"/>
                </a:solidFill>
                <a:latin typeface="Calibri"/>
              </a:defRPr>
            </a:pPr>
            <a:r>
              <a:t>Layer 3: Graph Risk</a:t>
            </a:r>
          </a:p>
        </p:txBody>
      </p:sp>
      <p:sp>
        <p:nvSpPr>
          <p:cNvPr id="22" name="Rounded Rectangle 21"/>
          <p:cNvSpPr/>
          <p:nvPr/>
        </p:nvSpPr>
        <p:spPr>
          <a:xfrm>
            <a:off x="7040880" y="2011680"/>
            <a:ext cx="914400" cy="41148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0" y="2029968"/>
            <a:ext cx="914400" cy="365760"/>
          </a:xfrm>
          <a:prstGeom prst="rect">
            <a:avLst/>
          </a:prstGeom>
          <a:noFill/>
        </p:spPr>
        <p:txBody>
          <a:bodyPr wrap="square">
            <a:spAutoFit/>
          </a:bodyPr>
          <a:lstStyle/>
          <a:p>
            <a:pPr algn="ctr">
              <a:defRPr sz="1100" b="1">
                <a:solidFill>
                  <a:srgbClr val="FFFFFF"/>
                </a:solidFill>
                <a:latin typeface="Calibri"/>
              </a:defRPr>
            </a:pPr>
            <a:r>
              <a:t>Weight: 20%</a:t>
            </a:r>
          </a:p>
        </p:txBody>
      </p:sp>
      <p:sp>
        <p:nvSpPr>
          <p:cNvPr id="24" name="TextBox 23"/>
          <p:cNvSpPr txBox="1"/>
          <p:nvPr/>
        </p:nvSpPr>
        <p:spPr>
          <a:xfrm>
            <a:off x="6309360" y="2560320"/>
            <a:ext cx="2423160" cy="320040"/>
          </a:xfrm>
          <a:prstGeom prst="rect">
            <a:avLst/>
          </a:prstGeom>
          <a:noFill/>
        </p:spPr>
        <p:txBody>
          <a:bodyPr wrap="square">
            <a:spAutoFit/>
          </a:bodyPr>
          <a:lstStyle/>
          <a:p>
            <a:pPr algn="ctr">
              <a:defRPr sz="1100" b="1">
                <a:solidFill>
                  <a:srgbClr val="2ECC71"/>
                </a:solidFill>
                <a:latin typeface="Calibri"/>
              </a:defRPr>
            </a:pPr>
            <a:r>
              <a:t>Identity Topology</a:t>
            </a:r>
          </a:p>
        </p:txBody>
      </p:sp>
      <p:sp>
        <p:nvSpPr>
          <p:cNvPr id="25" name="TextBox 24"/>
          <p:cNvSpPr txBox="1"/>
          <p:nvPr/>
        </p:nvSpPr>
        <p:spPr>
          <a:xfrm>
            <a:off x="6355080" y="3017520"/>
            <a:ext cx="2331720" cy="2560320"/>
          </a:xfrm>
          <a:prstGeom prst="rect">
            <a:avLst/>
          </a:prstGeom>
          <a:noFill/>
        </p:spPr>
        <p:txBody>
          <a:bodyPr wrap="square">
            <a:spAutoFit/>
          </a:bodyPr>
          <a:lstStyle/>
          <a:p>
            <a:pPr algn="ctr">
              <a:defRPr sz="1100" b="0">
                <a:solidFill>
                  <a:srgbClr val="6B7B8D"/>
                </a:solidFill>
                <a:latin typeface="Calibri"/>
              </a:defRPr>
            </a:pPr>
            <a:r>
              <a:t>6 structural inputs from identity graph</a:t>
            </a:r>
            <a:br/>
            <a:r>
              <a:t>Detects fraud rings &amp; device cycling</a:t>
            </a:r>
            <a:br/>
            <a:r>
              <a:t>Shared-device and IP cluster analysis</a:t>
            </a:r>
            <a:br/>
            <a:r>
              <a:t>494 fraud ring members flagged</a:t>
            </a:r>
          </a:p>
        </p:txBody>
      </p:sp>
      <p:sp>
        <p:nvSpPr>
          <p:cNvPr id="26" name="Rounded Rectangle 25"/>
          <p:cNvSpPr/>
          <p:nvPr/>
        </p:nvSpPr>
        <p:spPr>
          <a:xfrm>
            <a:off x="9052560" y="1371600"/>
            <a:ext cx="2606040" cy="43891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52560" y="1371600"/>
            <a:ext cx="2606040" cy="502920"/>
          </a:xfrm>
          <a:prstGeom prst="rect">
            <a:avLst/>
          </a:prstGeom>
          <a:solidFill>
            <a:srgbClr val="11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0" y="1389888"/>
            <a:ext cx="2423160" cy="457200"/>
          </a:xfrm>
          <a:prstGeom prst="rect">
            <a:avLst/>
          </a:prstGeom>
          <a:noFill/>
        </p:spPr>
        <p:txBody>
          <a:bodyPr wrap="square">
            <a:spAutoFit/>
          </a:bodyPr>
          <a:lstStyle/>
          <a:p>
            <a:pPr algn="ctr">
              <a:defRPr sz="1300" b="1">
                <a:solidFill>
                  <a:srgbClr val="FFFFFF"/>
                </a:solidFill>
                <a:latin typeface="Calibri"/>
              </a:defRPr>
            </a:pPr>
            <a:r>
              <a:t>Layer 4: Meta-Model</a:t>
            </a:r>
          </a:p>
        </p:txBody>
      </p:sp>
      <p:sp>
        <p:nvSpPr>
          <p:cNvPr id="29" name="TextBox 28"/>
          <p:cNvSpPr txBox="1"/>
          <p:nvPr/>
        </p:nvSpPr>
        <p:spPr>
          <a:xfrm>
            <a:off x="9144000" y="2057400"/>
            <a:ext cx="2423160" cy="320040"/>
          </a:xfrm>
          <a:prstGeom prst="rect">
            <a:avLst/>
          </a:prstGeom>
          <a:noFill/>
        </p:spPr>
        <p:txBody>
          <a:bodyPr wrap="square">
            <a:spAutoFit/>
          </a:bodyPr>
          <a:lstStyle/>
          <a:p>
            <a:pPr algn="ctr">
              <a:defRPr sz="1100" b="1">
                <a:solidFill>
                  <a:srgbClr val="11274B"/>
                </a:solidFill>
                <a:latin typeface="Calibri"/>
              </a:defRPr>
            </a:pPr>
            <a:r>
              <a:t>Final Output</a:t>
            </a:r>
          </a:p>
        </p:txBody>
      </p:sp>
      <p:sp>
        <p:nvSpPr>
          <p:cNvPr id="30" name="TextBox 29"/>
          <p:cNvSpPr txBox="1"/>
          <p:nvPr/>
        </p:nvSpPr>
        <p:spPr>
          <a:xfrm>
            <a:off x="9144000" y="2560320"/>
            <a:ext cx="2423160" cy="320040"/>
          </a:xfrm>
          <a:prstGeom prst="rect">
            <a:avLst/>
          </a:prstGeom>
          <a:noFill/>
        </p:spPr>
        <p:txBody>
          <a:bodyPr wrap="square">
            <a:spAutoFit/>
          </a:bodyPr>
          <a:lstStyle/>
          <a:p>
            <a:pPr algn="ctr">
              <a:defRPr sz="1100" b="1">
                <a:solidFill>
                  <a:srgbClr val="11274B"/>
                </a:solidFill>
                <a:latin typeface="Calibri"/>
              </a:defRPr>
            </a:pPr>
            <a:r>
              <a:t>Ensemble Calibration</a:t>
            </a:r>
          </a:p>
        </p:txBody>
      </p:sp>
      <p:sp>
        <p:nvSpPr>
          <p:cNvPr id="31" name="TextBox 30"/>
          <p:cNvSpPr txBox="1"/>
          <p:nvPr/>
        </p:nvSpPr>
        <p:spPr>
          <a:xfrm>
            <a:off x="9189720" y="3017520"/>
            <a:ext cx="2331720" cy="2560320"/>
          </a:xfrm>
          <a:prstGeom prst="rect">
            <a:avLst/>
          </a:prstGeom>
          <a:noFill/>
        </p:spPr>
        <p:txBody>
          <a:bodyPr wrap="square">
            <a:spAutoFit/>
          </a:bodyPr>
          <a:lstStyle/>
          <a:p>
            <a:pPr algn="ctr">
              <a:defRPr sz="1100" b="0">
                <a:solidFill>
                  <a:srgbClr val="6B7B8D"/>
                </a:solidFill>
                <a:latin typeface="Calibri"/>
              </a:defRPr>
            </a:pPr>
            <a:r>
              <a:t>Weighted blend → 0–1000 score</a:t>
            </a:r>
            <a:br/>
            <a:r>
              <a:t>SAFE [0–349] → Frictionless</a:t>
            </a:r>
            <a:br/>
            <a:r>
              <a:t>STEP-UP [350–749] → Adaptive MFA</a:t>
            </a:r>
            <a:br/>
            <a:r>
              <a:t>BLOCK [750–1000] → Auto-block</a:t>
            </a:r>
          </a:p>
        </p:txBody>
      </p:sp>
      <p:sp>
        <p:nvSpPr>
          <p:cNvPr id="32" name="Rectangle 31"/>
          <p:cNvSpPr/>
          <p:nvPr/>
        </p:nvSpPr>
        <p:spPr>
          <a:xfrm>
            <a:off x="548640" y="5943600"/>
            <a:ext cx="11064240" cy="548640"/>
          </a:xfrm>
          <a:prstGeom prst="rect">
            <a:avLst/>
          </a:prstGeom>
          <a:solidFill>
            <a:srgbClr val="11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961888"/>
            <a:ext cx="10698480" cy="502920"/>
          </a:xfrm>
          <a:prstGeom prst="rect">
            <a:avLst/>
          </a:prstGeom>
          <a:noFill/>
        </p:spPr>
        <p:txBody>
          <a:bodyPr wrap="square">
            <a:spAutoFit/>
          </a:bodyPr>
          <a:lstStyle/>
          <a:p>
            <a:pPr algn="ctr">
              <a:defRPr sz="1300" b="0">
                <a:solidFill>
                  <a:srgbClr val="FFFFFF"/>
                </a:solidFill>
                <a:latin typeface="Calibri"/>
              </a:defRPr>
            </a:pPr>
            <a:r>
              <a:t>All models registered in Snowflake Model Registry  •  Versioned (V2)  •  Leakage-guarded  •  Metrics-tracked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548640"/>
          </a:xfrm>
          <a:prstGeom prst="rect">
            <a:avLst/>
          </a:prstGeom>
          <a:noFill/>
        </p:spPr>
        <p:txBody>
          <a:bodyPr wrap="square">
            <a:spAutoFit/>
          </a:bodyPr>
          <a:lstStyle/>
          <a:p>
            <a:pPr algn="l">
              <a:defRPr sz="3200" b="1">
                <a:solidFill>
                  <a:srgbClr val="11274B"/>
                </a:solidFill>
                <a:latin typeface="Calibri"/>
              </a:defRPr>
            </a:pPr>
            <a:r>
              <a:t>Industry &amp; Regulatory Context</a:t>
            </a:r>
          </a:p>
        </p:txBody>
      </p:sp>
      <p:sp>
        <p:nvSpPr>
          <p:cNvPr id="4" name="Rectangle 3"/>
          <p:cNvSpPr/>
          <p:nvPr/>
        </p:nvSpPr>
        <p:spPr>
          <a:xfrm>
            <a:off x="731520" y="960120"/>
            <a:ext cx="2286000"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34440"/>
            <a:ext cx="5029200" cy="411480"/>
          </a:xfrm>
          <a:prstGeom prst="rect">
            <a:avLst/>
          </a:prstGeom>
          <a:noFill/>
        </p:spPr>
        <p:txBody>
          <a:bodyPr wrap="square">
            <a:spAutoFit/>
          </a:bodyPr>
          <a:lstStyle/>
          <a:p>
            <a:pPr algn="l">
              <a:defRPr sz="1800" b="1">
                <a:solidFill>
                  <a:srgbClr val="11274B"/>
                </a:solidFill>
                <a:latin typeface="Calibri"/>
              </a:defRPr>
            </a:pPr>
            <a:r>
              <a:t>The Evolving Threat Landscape</a:t>
            </a:r>
          </a:p>
        </p:txBody>
      </p:sp>
      <p:sp>
        <p:nvSpPr>
          <p:cNvPr id="6" name="TextBox 5"/>
          <p:cNvSpPr txBox="1"/>
          <p:nvPr/>
        </p:nvSpPr>
        <p:spPr>
          <a:xfrm>
            <a:off x="731520" y="1645920"/>
            <a:ext cx="5029200" cy="4114800"/>
          </a:xfrm>
          <a:prstGeom prst="rect">
            <a:avLst/>
          </a:prstGeom>
          <a:noFill/>
        </p:spPr>
        <p:txBody>
          <a:bodyPr wrap="square">
            <a:spAutoFit/>
          </a:bodyPr>
          <a:lstStyle/>
          <a:p>
            <a:pPr algn="l">
              <a:defRPr sz="100" b="0">
                <a:solidFill>
                  <a:srgbClr val="1A1A2E"/>
                </a:solidFill>
                <a:latin typeface="Calibri"/>
              </a:defRPr>
            </a:pPr>
          </a:p>
          <a:p>
            <a:pPr algn="l">
              <a:spcBef>
                <a:spcPts val="1000"/>
              </a:spcBef>
              <a:defRPr sz="1200" b="0">
                <a:solidFill>
                  <a:srgbClr val="1A1A2E"/>
                </a:solidFill>
                <a:latin typeface="Calibri"/>
              </a:defRPr>
              <a:buSzPct val="100000"/>
              <a:buClr>
                <a:srgbClr val="29B5E8"/>
              </a:buClr>
              <a:buChar char="•"/>
            </a:pPr>
            <a:r>
              <a:t>Credential dumps from breaches fuel stuffing at scale — billions of leaked credentials on dark markets</a:t>
            </a:r>
          </a:p>
          <a:p>
            <a:pPr algn="l">
              <a:spcBef>
                <a:spcPts val="1000"/>
              </a:spcBef>
              <a:defRPr sz="1200" b="0">
                <a:solidFill>
                  <a:srgbClr val="1A1A2E"/>
                </a:solidFill>
                <a:latin typeface="Calibri"/>
              </a:defRPr>
              <a:buSzPct val="100000"/>
              <a:buClr>
                <a:srgbClr val="29B5E8"/>
              </a:buClr>
              <a:buChar char="•"/>
            </a:pPr>
            <a:r>
              <a:t>SIM-swap attacks bypass SMS-based MFA — one of the 10 scenarios this system detects</a:t>
            </a:r>
          </a:p>
          <a:p>
            <a:pPr algn="l">
              <a:spcBef>
                <a:spcPts val="1000"/>
              </a:spcBef>
              <a:defRPr sz="1200" b="0">
                <a:solidFill>
                  <a:srgbClr val="1A1A2E"/>
                </a:solidFill>
                <a:latin typeface="Calibri"/>
              </a:defRPr>
              <a:buSzPct val="100000"/>
              <a:buClr>
                <a:srgbClr val="29B5E8"/>
              </a:buClr>
              <a:buChar char="•"/>
            </a:pPr>
            <a:r>
              <a:t>GenAI-powered social engineering makes phishing cheaper and harder to filter</a:t>
            </a:r>
          </a:p>
          <a:p>
            <a:pPr algn="l">
              <a:spcBef>
                <a:spcPts val="1000"/>
              </a:spcBef>
              <a:defRPr sz="1200" b="0">
                <a:solidFill>
                  <a:srgbClr val="1A1A2E"/>
                </a:solidFill>
                <a:latin typeface="Calibri"/>
              </a:defRPr>
              <a:buSzPct val="100000"/>
              <a:buClr>
                <a:srgbClr val="29B5E8"/>
              </a:buClr>
              <a:buChar char="•"/>
            </a:pPr>
            <a:r>
              <a:t>Remote/digital-first banking — the login event IS the perimeter</a:t>
            </a:r>
          </a:p>
          <a:p>
            <a:pPr algn="l">
              <a:spcBef>
                <a:spcPts val="1000"/>
              </a:spcBef>
              <a:defRPr sz="1200" b="0">
                <a:solidFill>
                  <a:srgbClr val="1A1A2E"/>
                </a:solidFill>
                <a:latin typeface="Calibri"/>
              </a:defRPr>
              <a:buSzPct val="100000"/>
              <a:buClr>
                <a:srgbClr val="29B5E8"/>
              </a:buClr>
              <a:buChar char="•"/>
            </a:pPr>
            <a:r>
              <a:t>Bot automation tests thousands of credential pairs per minute</a:t>
            </a:r>
          </a:p>
        </p:txBody>
      </p:sp>
      <p:sp>
        <p:nvSpPr>
          <p:cNvPr id="7" name="Rectangle 6"/>
          <p:cNvSpPr/>
          <p:nvPr/>
        </p:nvSpPr>
        <p:spPr>
          <a:xfrm>
            <a:off x="5943600" y="1280160"/>
            <a:ext cx="25400" cy="438912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1234440"/>
            <a:ext cx="5029200" cy="411480"/>
          </a:xfrm>
          <a:prstGeom prst="rect">
            <a:avLst/>
          </a:prstGeom>
          <a:noFill/>
        </p:spPr>
        <p:txBody>
          <a:bodyPr wrap="square">
            <a:spAutoFit/>
          </a:bodyPr>
          <a:lstStyle/>
          <a:p>
            <a:pPr algn="l">
              <a:defRPr sz="1800" b="1">
                <a:solidFill>
                  <a:srgbClr val="11274B"/>
                </a:solidFill>
                <a:latin typeface="Calibri"/>
              </a:defRPr>
            </a:pPr>
            <a:r>
              <a:t>Regulatory Mandates Driving Urgency</a:t>
            </a:r>
          </a:p>
        </p:txBody>
      </p:sp>
      <p:sp>
        <p:nvSpPr>
          <p:cNvPr id="9" name="TextBox 8"/>
          <p:cNvSpPr txBox="1"/>
          <p:nvPr/>
        </p:nvSpPr>
        <p:spPr>
          <a:xfrm>
            <a:off x="6217920" y="1645920"/>
            <a:ext cx="5303520" cy="4389120"/>
          </a:xfrm>
          <a:prstGeom prst="rect">
            <a:avLst/>
          </a:prstGeom>
          <a:noFill/>
        </p:spPr>
        <p:txBody>
          <a:bodyPr wrap="square">
            <a:spAutoFit/>
          </a:bodyPr>
          <a:lstStyle/>
          <a:p>
            <a:pPr algn="l">
              <a:defRPr sz="100" b="0">
                <a:solidFill>
                  <a:srgbClr val="1A1A2E"/>
                </a:solidFill>
                <a:latin typeface="Calibri"/>
              </a:defRPr>
            </a:pPr>
          </a:p>
          <a:p>
            <a:pPr algn="l">
              <a:spcBef>
                <a:spcPts val="1000"/>
              </a:spcBef>
              <a:defRPr sz="1200" b="1">
                <a:solidFill>
                  <a:srgbClr val="007EB5"/>
                </a:solidFill>
                <a:latin typeface="Calibri"/>
              </a:defRPr>
              <a:buSzPct val="100000"/>
              <a:buClr>
                <a:srgbClr val="29B5E8"/>
              </a:buClr>
              <a:buChar char="•"/>
            </a:pPr>
            <a:r>
              <a:t>FTC Safeguards Rule</a:t>
            </a:r>
          </a:p>
          <a:p>
            <a:pPr algn="l">
              <a:spcBef>
                <a:spcPts val="200"/>
              </a:spcBef>
              <a:defRPr sz="1100" b="0">
                <a:solidFill>
                  <a:srgbClr val="6B7B8D"/>
                </a:solidFill>
                <a:latin typeface="Calibri"/>
              </a:defRPr>
            </a:pPr>
            <a:r>
              <a:t>Real-time fraud detection and incident response</a:t>
            </a:r>
          </a:p>
          <a:p>
            <a:pPr algn="l">
              <a:spcBef>
                <a:spcPts val="1000"/>
              </a:spcBef>
              <a:defRPr sz="1200" b="1">
                <a:solidFill>
                  <a:srgbClr val="007EB5"/>
                </a:solidFill>
                <a:latin typeface="Calibri"/>
              </a:defRPr>
              <a:buSzPct val="100000"/>
              <a:buClr>
                <a:srgbClr val="29B5E8"/>
              </a:buClr>
              <a:buChar char="•"/>
            </a:pPr>
            <a:r>
              <a:t>CFPB MFA Circular</a:t>
            </a:r>
          </a:p>
          <a:p>
            <a:pPr algn="l">
              <a:spcBef>
                <a:spcPts val="200"/>
              </a:spcBef>
              <a:defRPr sz="1100" b="0">
                <a:solidFill>
                  <a:srgbClr val="6B7B8D"/>
                </a:solidFill>
                <a:latin typeface="Calibri"/>
              </a:defRPr>
            </a:pPr>
            <a:r>
              <a:t>Multi-factor authentication controls for consumer accounts</a:t>
            </a:r>
          </a:p>
          <a:p>
            <a:pPr algn="l">
              <a:spcBef>
                <a:spcPts val="1000"/>
              </a:spcBef>
              <a:defRPr sz="1200" b="1">
                <a:solidFill>
                  <a:srgbClr val="007EB5"/>
                </a:solidFill>
                <a:latin typeface="Calibri"/>
              </a:defRPr>
              <a:buSzPct val="100000"/>
              <a:buClr>
                <a:srgbClr val="29B5E8"/>
              </a:buClr>
              <a:buChar char="•"/>
            </a:pPr>
            <a:r>
              <a:t>CFPB Reg E ATO Proposal</a:t>
            </a:r>
          </a:p>
          <a:p>
            <a:pPr algn="l">
              <a:spcBef>
                <a:spcPts val="200"/>
              </a:spcBef>
              <a:defRPr sz="1100" b="0">
                <a:solidFill>
                  <a:srgbClr val="6B7B8D"/>
                </a:solidFill>
                <a:latin typeface="Calibri"/>
              </a:defRPr>
            </a:pPr>
            <a:r>
              <a:t>Shifts liability for unauthorized electronic fund transfers</a:t>
            </a:r>
          </a:p>
          <a:p>
            <a:pPr algn="l">
              <a:spcBef>
                <a:spcPts val="1000"/>
              </a:spcBef>
              <a:defRPr sz="1200" b="1">
                <a:solidFill>
                  <a:srgbClr val="007EB5"/>
                </a:solidFill>
                <a:latin typeface="Calibri"/>
              </a:defRPr>
              <a:buSzPct val="100000"/>
              <a:buClr>
                <a:srgbClr val="29B5E8"/>
              </a:buClr>
              <a:buChar char="•"/>
            </a:pPr>
            <a:r>
              <a:t>FinCEN AML / CDD</a:t>
            </a:r>
          </a:p>
          <a:p>
            <a:pPr algn="l">
              <a:spcBef>
                <a:spcPts val="200"/>
              </a:spcBef>
              <a:defRPr sz="1100" b="0">
                <a:solidFill>
                  <a:srgbClr val="6B7B8D"/>
                </a:solidFill>
                <a:latin typeface="Calibri"/>
              </a:defRPr>
            </a:pPr>
            <a:r>
              <a:t>Identity verification, suspicious activity monitoring, SAR filing</a:t>
            </a:r>
          </a:p>
          <a:p>
            <a:pPr algn="l">
              <a:spcBef>
                <a:spcPts val="1000"/>
              </a:spcBef>
              <a:defRPr sz="1200" b="1">
                <a:solidFill>
                  <a:srgbClr val="007EB5"/>
                </a:solidFill>
                <a:latin typeface="Calibri"/>
              </a:defRPr>
              <a:buSzPct val="100000"/>
              <a:buClr>
                <a:srgbClr val="29B5E8"/>
              </a:buClr>
              <a:buChar char="•"/>
            </a:pPr>
            <a:r>
              <a:t>FFIEC Authentication</a:t>
            </a:r>
          </a:p>
          <a:p>
            <a:pPr algn="l">
              <a:spcBef>
                <a:spcPts val="200"/>
              </a:spcBef>
              <a:defRPr sz="1100" b="0">
                <a:solidFill>
                  <a:srgbClr val="6B7B8D"/>
                </a:solidFill>
                <a:latin typeface="Calibri"/>
              </a:defRPr>
            </a:pPr>
            <a:r>
              <a:t>Risk-based authentication standards for financial institutions</a:t>
            </a:r>
          </a:p>
          <a:p>
            <a:pPr algn="l">
              <a:spcBef>
                <a:spcPts val="1000"/>
              </a:spcBef>
              <a:defRPr sz="1200" b="1">
                <a:solidFill>
                  <a:srgbClr val="007EB5"/>
                </a:solidFill>
                <a:latin typeface="Calibri"/>
              </a:defRPr>
              <a:buSzPct val="100000"/>
              <a:buClr>
                <a:srgbClr val="29B5E8"/>
              </a:buClr>
              <a:buChar char="•"/>
            </a:pPr>
            <a:r>
              <a:t>CISA CIRCIA</a:t>
            </a:r>
          </a:p>
          <a:p>
            <a:pPr algn="l">
              <a:spcBef>
                <a:spcPts val="200"/>
              </a:spcBef>
              <a:defRPr sz="1100" b="0">
                <a:solidFill>
                  <a:srgbClr val="6B7B8D"/>
                </a:solidFill>
                <a:latin typeface="Calibri"/>
              </a:defRPr>
            </a:pPr>
            <a:r>
              <a:t>72-hour cyber incident reporting — including ATO events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548640"/>
          </a:xfrm>
          <a:prstGeom prst="rect">
            <a:avLst/>
          </a:prstGeom>
          <a:noFill/>
        </p:spPr>
        <p:txBody>
          <a:bodyPr wrap="square">
            <a:spAutoFit/>
          </a:bodyPr>
          <a:lstStyle/>
          <a:p>
            <a:pPr algn="l">
              <a:defRPr sz="3200" b="1">
                <a:solidFill>
                  <a:srgbClr val="11274B"/>
                </a:solidFill>
                <a:latin typeface="Calibri"/>
              </a:defRPr>
            </a:pPr>
            <a:r>
              <a:t>Impact Statement</a:t>
            </a:r>
          </a:p>
        </p:txBody>
      </p:sp>
      <p:sp>
        <p:nvSpPr>
          <p:cNvPr id="4" name="Rectangle 3"/>
          <p:cNvSpPr/>
          <p:nvPr/>
        </p:nvSpPr>
        <p:spPr>
          <a:xfrm>
            <a:off x="731520" y="960120"/>
            <a:ext cx="2286000"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4572000" cy="365760"/>
          </a:xfrm>
          <a:prstGeom prst="rect">
            <a:avLst/>
          </a:prstGeom>
          <a:noFill/>
        </p:spPr>
        <p:txBody>
          <a:bodyPr wrap="square">
            <a:spAutoFit/>
          </a:bodyPr>
          <a:lstStyle/>
          <a:p>
            <a:pPr algn="l">
              <a:defRPr sz="1800" b="1">
                <a:solidFill>
                  <a:srgbClr val="11274B"/>
                </a:solidFill>
                <a:latin typeface="Calibri"/>
              </a:defRPr>
            </a:pPr>
            <a:r>
              <a:t>Measurable Outcomes</a:t>
            </a:r>
          </a:p>
        </p:txBody>
      </p:sp>
      <p:sp>
        <p:nvSpPr>
          <p:cNvPr id="6" name="Rounded Rectangle 5"/>
          <p:cNvSpPr/>
          <p:nvPr/>
        </p:nvSpPr>
        <p:spPr>
          <a:xfrm>
            <a:off x="731520" y="1600200"/>
            <a:ext cx="1828800" cy="24688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00200"/>
            <a:ext cx="1828800"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37360"/>
            <a:ext cx="1645920" cy="411480"/>
          </a:xfrm>
          <a:prstGeom prst="rect">
            <a:avLst/>
          </a:prstGeom>
          <a:noFill/>
        </p:spPr>
        <p:txBody>
          <a:bodyPr wrap="square">
            <a:spAutoFit/>
          </a:bodyPr>
          <a:lstStyle/>
          <a:p>
            <a:pPr algn="ctr">
              <a:defRPr sz="2400" b="1">
                <a:solidFill>
                  <a:srgbClr val="E83E3E"/>
                </a:solidFill>
                <a:latin typeface="Calibri"/>
              </a:defRPr>
            </a:pPr>
            <a:r>
              <a:t>70–85%</a:t>
            </a:r>
          </a:p>
        </p:txBody>
      </p:sp>
      <p:sp>
        <p:nvSpPr>
          <p:cNvPr id="9" name="TextBox 8"/>
          <p:cNvSpPr txBox="1"/>
          <p:nvPr/>
        </p:nvSpPr>
        <p:spPr>
          <a:xfrm>
            <a:off x="822960" y="2148840"/>
            <a:ext cx="1645920" cy="457200"/>
          </a:xfrm>
          <a:prstGeom prst="rect">
            <a:avLst/>
          </a:prstGeom>
          <a:noFill/>
        </p:spPr>
        <p:txBody>
          <a:bodyPr wrap="square">
            <a:spAutoFit/>
          </a:bodyPr>
          <a:lstStyle/>
          <a:p>
            <a:pPr algn="ctr">
              <a:defRPr sz="1100" b="1">
                <a:solidFill>
                  <a:srgbClr val="11274B"/>
                </a:solidFill>
                <a:latin typeface="Calibri"/>
              </a:defRPr>
            </a:pPr>
            <a:r>
              <a:t>Reduction in</a:t>
            </a:r>
            <a:br/>
            <a:r>
              <a:t>False Positives</a:t>
            </a:r>
          </a:p>
        </p:txBody>
      </p:sp>
      <p:sp>
        <p:nvSpPr>
          <p:cNvPr id="10" name="TextBox 9"/>
          <p:cNvSpPr txBox="1"/>
          <p:nvPr/>
        </p:nvSpPr>
        <p:spPr>
          <a:xfrm>
            <a:off x="822960" y="2651760"/>
            <a:ext cx="1645920" cy="1280160"/>
          </a:xfrm>
          <a:prstGeom prst="rect">
            <a:avLst/>
          </a:prstGeom>
          <a:noFill/>
        </p:spPr>
        <p:txBody>
          <a:bodyPr wrap="square">
            <a:spAutoFit/>
          </a:bodyPr>
          <a:lstStyle/>
          <a:p>
            <a:pPr algn="ctr">
              <a:defRPr sz="1000" b="0">
                <a:solidFill>
                  <a:srgbClr val="6B7B8D"/>
                </a:solidFill>
                <a:latin typeface="Calibri"/>
              </a:defRPr>
            </a:pPr>
            <a:r>
              <a:t>Tiered decisioning replaces</a:t>
            </a:r>
            <a:br/>
            <a:r>
              <a:t>blunt rule thresholds with</a:t>
            </a:r>
            <a:br/>
            <a:r>
              <a:t>calibrated ML scores</a:t>
            </a:r>
          </a:p>
        </p:txBody>
      </p:sp>
      <p:sp>
        <p:nvSpPr>
          <p:cNvPr id="11" name="Rounded Rectangle 10"/>
          <p:cNvSpPr/>
          <p:nvPr/>
        </p:nvSpPr>
        <p:spPr>
          <a:xfrm>
            <a:off x="2697480" y="1600200"/>
            <a:ext cx="1828800" cy="24688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97480" y="1600200"/>
            <a:ext cx="1828800"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8920" y="1737360"/>
            <a:ext cx="1645920" cy="411480"/>
          </a:xfrm>
          <a:prstGeom prst="rect">
            <a:avLst/>
          </a:prstGeom>
          <a:noFill/>
        </p:spPr>
        <p:txBody>
          <a:bodyPr wrap="square">
            <a:spAutoFit/>
          </a:bodyPr>
          <a:lstStyle/>
          <a:p>
            <a:pPr algn="ctr">
              <a:defRPr sz="2400" b="1">
                <a:solidFill>
                  <a:srgbClr val="29B5E8"/>
                </a:solidFill>
                <a:latin typeface="Calibri"/>
              </a:defRPr>
            </a:pPr>
            <a:r>
              <a:t>60× Faster</a:t>
            </a:r>
          </a:p>
        </p:txBody>
      </p:sp>
      <p:sp>
        <p:nvSpPr>
          <p:cNvPr id="14" name="TextBox 13"/>
          <p:cNvSpPr txBox="1"/>
          <p:nvPr/>
        </p:nvSpPr>
        <p:spPr>
          <a:xfrm>
            <a:off x="2788920" y="2148840"/>
            <a:ext cx="1645920" cy="457200"/>
          </a:xfrm>
          <a:prstGeom prst="rect">
            <a:avLst/>
          </a:prstGeom>
          <a:noFill/>
        </p:spPr>
        <p:txBody>
          <a:bodyPr wrap="square">
            <a:spAutoFit/>
          </a:bodyPr>
          <a:lstStyle/>
          <a:p>
            <a:pPr algn="ctr">
              <a:defRPr sz="1100" b="1">
                <a:solidFill>
                  <a:srgbClr val="11274B"/>
                </a:solidFill>
                <a:latin typeface="Calibri"/>
              </a:defRPr>
            </a:pPr>
            <a:r>
              <a:t>Detection</a:t>
            </a:r>
            <a:br/>
            <a:r>
              <a:t>Latency</a:t>
            </a:r>
          </a:p>
        </p:txBody>
      </p:sp>
      <p:sp>
        <p:nvSpPr>
          <p:cNvPr id="15" name="TextBox 14"/>
          <p:cNvSpPr txBox="1"/>
          <p:nvPr/>
        </p:nvSpPr>
        <p:spPr>
          <a:xfrm>
            <a:off x="2788920" y="2651760"/>
            <a:ext cx="1645920" cy="1280160"/>
          </a:xfrm>
          <a:prstGeom prst="rect">
            <a:avLst/>
          </a:prstGeom>
          <a:noFill/>
        </p:spPr>
        <p:txBody>
          <a:bodyPr wrap="square">
            <a:spAutoFit/>
          </a:bodyPr>
          <a:lstStyle/>
          <a:p>
            <a:pPr algn="ctr">
              <a:defRPr sz="1000" b="0">
                <a:solidFill>
                  <a:srgbClr val="6B7B8D"/>
                </a:solidFill>
                <a:latin typeface="Calibri"/>
              </a:defRPr>
            </a:pPr>
            <a:r>
              <a:t>1-minute DT lag vs.</a:t>
            </a:r>
            <a:br/>
            <a:r>
              <a:t>60-minute+ batch jobs</a:t>
            </a:r>
            <a:br/>
            <a:r>
              <a:t>= near-real-time response</a:t>
            </a:r>
          </a:p>
        </p:txBody>
      </p:sp>
      <p:sp>
        <p:nvSpPr>
          <p:cNvPr id="16" name="Rounded Rectangle 15"/>
          <p:cNvSpPr/>
          <p:nvPr/>
        </p:nvSpPr>
        <p:spPr>
          <a:xfrm>
            <a:off x="4663440" y="1600200"/>
            <a:ext cx="1828800" cy="24688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63440" y="1600200"/>
            <a:ext cx="1828800" cy="508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1737360"/>
            <a:ext cx="1645920" cy="411480"/>
          </a:xfrm>
          <a:prstGeom prst="rect">
            <a:avLst/>
          </a:prstGeom>
          <a:noFill/>
        </p:spPr>
        <p:txBody>
          <a:bodyPr wrap="square">
            <a:spAutoFit/>
          </a:bodyPr>
          <a:lstStyle/>
          <a:p>
            <a:pPr algn="ctr">
              <a:defRPr sz="2400" b="1">
                <a:solidFill>
                  <a:srgbClr val="2ECC71"/>
                </a:solidFill>
                <a:latin typeface="Calibri"/>
              </a:defRPr>
            </a:pPr>
            <a:r>
              <a:t>5→1</a:t>
            </a:r>
          </a:p>
        </p:txBody>
      </p:sp>
      <p:sp>
        <p:nvSpPr>
          <p:cNvPr id="19" name="TextBox 18"/>
          <p:cNvSpPr txBox="1"/>
          <p:nvPr/>
        </p:nvSpPr>
        <p:spPr>
          <a:xfrm>
            <a:off x="4754880" y="2148840"/>
            <a:ext cx="1645920" cy="457200"/>
          </a:xfrm>
          <a:prstGeom prst="rect">
            <a:avLst/>
          </a:prstGeom>
          <a:noFill/>
        </p:spPr>
        <p:txBody>
          <a:bodyPr wrap="square">
            <a:spAutoFit/>
          </a:bodyPr>
          <a:lstStyle/>
          <a:p>
            <a:pPr algn="ctr">
              <a:defRPr sz="1100" b="1">
                <a:solidFill>
                  <a:srgbClr val="11274B"/>
                </a:solidFill>
                <a:latin typeface="Calibri"/>
              </a:defRPr>
            </a:pPr>
            <a:r>
              <a:t>Platform</a:t>
            </a:r>
            <a:br/>
            <a:r>
              <a:t>Consolidation</a:t>
            </a:r>
          </a:p>
        </p:txBody>
      </p:sp>
      <p:sp>
        <p:nvSpPr>
          <p:cNvPr id="20" name="TextBox 19"/>
          <p:cNvSpPr txBox="1"/>
          <p:nvPr/>
        </p:nvSpPr>
        <p:spPr>
          <a:xfrm>
            <a:off x="4754880" y="2651760"/>
            <a:ext cx="1645920" cy="1280160"/>
          </a:xfrm>
          <a:prstGeom prst="rect">
            <a:avLst/>
          </a:prstGeom>
          <a:noFill/>
        </p:spPr>
        <p:txBody>
          <a:bodyPr wrap="square">
            <a:spAutoFit/>
          </a:bodyPr>
          <a:lstStyle/>
          <a:p>
            <a:pPr algn="ctr">
              <a:defRPr sz="1000" b="0">
                <a:solidFill>
                  <a:srgbClr val="6B7B8D"/>
                </a:solidFill>
                <a:latin typeface="Calibri"/>
              </a:defRPr>
            </a:pPr>
            <a:r>
              <a:t>ML + rules + search +</a:t>
            </a:r>
            <a:br/>
            <a:r>
              <a:t>governance + app on</a:t>
            </a:r>
            <a:br/>
            <a:r>
              <a:t>one Snowflake instance</a:t>
            </a:r>
          </a:p>
        </p:txBody>
      </p:sp>
      <p:sp>
        <p:nvSpPr>
          <p:cNvPr id="21" name="TextBox 20"/>
          <p:cNvSpPr txBox="1"/>
          <p:nvPr/>
        </p:nvSpPr>
        <p:spPr>
          <a:xfrm>
            <a:off x="6583680" y="1188720"/>
            <a:ext cx="4572000" cy="365760"/>
          </a:xfrm>
          <a:prstGeom prst="rect">
            <a:avLst/>
          </a:prstGeom>
          <a:noFill/>
        </p:spPr>
        <p:txBody>
          <a:bodyPr wrap="square">
            <a:spAutoFit/>
          </a:bodyPr>
          <a:lstStyle/>
          <a:p>
            <a:pPr algn="l">
              <a:defRPr sz="1800" b="1">
                <a:solidFill>
                  <a:srgbClr val="11274B"/>
                </a:solidFill>
                <a:latin typeface="Calibri"/>
              </a:defRPr>
            </a:pPr>
            <a:r>
              <a:t>Scalability Potential</a:t>
            </a:r>
          </a:p>
        </p:txBody>
      </p:sp>
      <p:sp>
        <p:nvSpPr>
          <p:cNvPr id="22" name="TextBox 21"/>
          <p:cNvSpPr txBox="1"/>
          <p:nvPr/>
        </p:nvSpPr>
        <p:spPr>
          <a:xfrm>
            <a:off x="6583680" y="1600200"/>
            <a:ext cx="4937760" cy="2743200"/>
          </a:xfrm>
          <a:prstGeom prst="rect">
            <a:avLst/>
          </a:prstGeom>
          <a:noFill/>
        </p:spPr>
        <p:txBody>
          <a:bodyPr wrap="square">
            <a:spAutoFit/>
          </a:bodyPr>
          <a:lstStyle/>
          <a:p>
            <a:pPr algn="l">
              <a:defRPr sz="100" b="0">
                <a:solidFill>
                  <a:srgbClr val="1A1A2E"/>
                </a:solidFill>
                <a:latin typeface="Calibri"/>
              </a:defRPr>
            </a:pPr>
          </a:p>
          <a:p>
            <a:pPr algn="l">
              <a:spcBef>
                <a:spcPts val="800"/>
              </a:spcBef>
              <a:defRPr sz="1100" b="0">
                <a:solidFill>
                  <a:srgbClr val="1A1A2E"/>
                </a:solidFill>
                <a:latin typeface="Calibri"/>
              </a:defRPr>
              <a:buSzPct val="100000"/>
              <a:buClr>
                <a:srgbClr val="29B5E8"/>
              </a:buClr>
              <a:buChar char="•"/>
            </a:pPr>
            <a:r>
              <a:t>Snowflake elastic compute scales from 50K → millions of accounts with zero architecture changes</a:t>
            </a:r>
          </a:p>
          <a:p>
            <a:pPr algn="l">
              <a:spcBef>
                <a:spcPts val="800"/>
              </a:spcBef>
              <a:defRPr sz="1100" b="0">
                <a:solidFill>
                  <a:srgbClr val="1A1A2E"/>
                </a:solidFill>
                <a:latin typeface="Calibri"/>
              </a:defRPr>
              <a:buSzPct val="100000"/>
              <a:buClr>
                <a:srgbClr val="29B5E8"/>
              </a:buClr>
              <a:buChar char="•"/>
            </a:pPr>
            <a:r>
              <a:t>Dynamic Tables auto-scale refresh cadence; target lag tunable per business SLA (1 min → seconds)</a:t>
            </a:r>
          </a:p>
          <a:p>
            <a:pPr algn="l">
              <a:spcBef>
                <a:spcPts val="800"/>
              </a:spcBef>
              <a:defRPr sz="1100" b="0">
                <a:solidFill>
                  <a:srgbClr val="1A1A2E"/>
                </a:solidFill>
                <a:latin typeface="Calibri"/>
              </a:defRPr>
              <a:buSzPct val="100000"/>
              <a:buClr>
                <a:srgbClr val="29B5E8"/>
              </a:buClr>
              <a:buChar char="•"/>
            </a:pPr>
            <a:r>
              <a:t>Model Registry supports A/B versioning — retrain weekly/daily without downtime</a:t>
            </a:r>
          </a:p>
          <a:p>
            <a:pPr algn="l">
              <a:spcBef>
                <a:spcPts val="800"/>
              </a:spcBef>
              <a:defRPr sz="1100" b="0">
                <a:solidFill>
                  <a:srgbClr val="1A1A2E"/>
                </a:solidFill>
                <a:latin typeface="Calibri"/>
              </a:defRPr>
              <a:buSzPct val="100000"/>
              <a:buClr>
                <a:srgbClr val="29B5E8"/>
              </a:buClr>
              <a:buChar char="•"/>
            </a:pPr>
            <a:r>
              <a:t>Cortex Search indexes scale to millions of policy documents across jurisdictions</a:t>
            </a:r>
          </a:p>
          <a:p>
            <a:pPr algn="l">
              <a:spcBef>
                <a:spcPts val="800"/>
              </a:spcBef>
              <a:defRPr sz="1100" b="0">
                <a:solidFill>
                  <a:srgbClr val="1A1A2E"/>
                </a:solidFill>
                <a:latin typeface="Calibri"/>
              </a:defRPr>
              <a:buSzPct val="100000"/>
              <a:buClr>
                <a:srgbClr val="29B5E8"/>
              </a:buClr>
              <a:buChar char="•"/>
            </a:pPr>
            <a:r>
              <a:t>Multi-warehouse isolation: ML training, feature compute, and search indexing run independently</a:t>
            </a:r>
          </a:p>
        </p:txBody>
      </p:sp>
      <p:sp>
        <p:nvSpPr>
          <p:cNvPr id="23" name="TextBox 22"/>
          <p:cNvSpPr txBox="1"/>
          <p:nvPr/>
        </p:nvSpPr>
        <p:spPr>
          <a:xfrm>
            <a:off x="731520" y="4297680"/>
            <a:ext cx="10972800" cy="365760"/>
          </a:xfrm>
          <a:prstGeom prst="rect">
            <a:avLst/>
          </a:prstGeom>
          <a:noFill/>
        </p:spPr>
        <p:txBody>
          <a:bodyPr wrap="square">
            <a:spAutoFit/>
          </a:bodyPr>
          <a:lstStyle/>
          <a:p>
            <a:pPr algn="l">
              <a:defRPr sz="1800" b="1">
                <a:solidFill>
                  <a:srgbClr val="11274B"/>
                </a:solidFill>
                <a:latin typeface="Calibri"/>
              </a:defRPr>
            </a:pPr>
            <a:r>
              <a:t>How This Extends Beyond the Demo</a:t>
            </a:r>
          </a:p>
        </p:txBody>
      </p:sp>
      <p:sp>
        <p:nvSpPr>
          <p:cNvPr id="24" name="Rounded Rectangle 23"/>
          <p:cNvSpPr/>
          <p:nvPr/>
        </p:nvSpPr>
        <p:spPr>
          <a:xfrm>
            <a:off x="457200" y="4709160"/>
            <a:ext cx="2057400" cy="16459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709160"/>
            <a:ext cx="2057400"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 y="4846320"/>
            <a:ext cx="1911096" cy="320040"/>
          </a:xfrm>
          <a:prstGeom prst="rect">
            <a:avLst/>
          </a:prstGeom>
          <a:noFill/>
        </p:spPr>
        <p:txBody>
          <a:bodyPr wrap="square">
            <a:spAutoFit/>
          </a:bodyPr>
          <a:lstStyle/>
          <a:p>
            <a:pPr algn="ctr">
              <a:defRPr sz="1100" b="1">
                <a:solidFill>
                  <a:srgbClr val="11274B"/>
                </a:solidFill>
                <a:latin typeface="Calibri"/>
              </a:defRPr>
            </a:pPr>
            <a:r>
              <a:t>Real-Time Streams</a:t>
            </a:r>
          </a:p>
        </p:txBody>
      </p:sp>
      <p:sp>
        <p:nvSpPr>
          <p:cNvPr id="27" name="TextBox 26"/>
          <p:cNvSpPr txBox="1"/>
          <p:nvPr/>
        </p:nvSpPr>
        <p:spPr>
          <a:xfrm>
            <a:off x="530352" y="5166360"/>
            <a:ext cx="1911096" cy="1097280"/>
          </a:xfrm>
          <a:prstGeom prst="rect">
            <a:avLst/>
          </a:prstGeom>
          <a:noFill/>
        </p:spPr>
        <p:txBody>
          <a:bodyPr wrap="square">
            <a:spAutoFit/>
          </a:bodyPr>
          <a:lstStyle/>
          <a:p>
            <a:pPr algn="ctr">
              <a:defRPr sz="1000" b="0">
                <a:solidFill>
                  <a:srgbClr val="6B7B8D"/>
                </a:solidFill>
                <a:latin typeface="Calibri"/>
              </a:defRPr>
            </a:pPr>
            <a:r>
              <a:t>Replace synthetic batch with</a:t>
            </a:r>
            <a:br/>
            <a:r>
              <a:t>Snowpipe Streaming for</a:t>
            </a:r>
            <a:br/>
            <a:r>
              <a:t>sub-second event ingestion</a:t>
            </a:r>
          </a:p>
        </p:txBody>
      </p:sp>
      <p:sp>
        <p:nvSpPr>
          <p:cNvPr id="28" name="Rounded Rectangle 27"/>
          <p:cNvSpPr/>
          <p:nvPr/>
        </p:nvSpPr>
        <p:spPr>
          <a:xfrm>
            <a:off x="2633472" y="4709160"/>
            <a:ext cx="2057400" cy="16459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633472" y="4709160"/>
            <a:ext cx="2057400"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06624" y="4846320"/>
            <a:ext cx="1911096" cy="320040"/>
          </a:xfrm>
          <a:prstGeom prst="rect">
            <a:avLst/>
          </a:prstGeom>
          <a:noFill/>
        </p:spPr>
        <p:txBody>
          <a:bodyPr wrap="square">
            <a:spAutoFit/>
          </a:bodyPr>
          <a:lstStyle/>
          <a:p>
            <a:pPr algn="ctr">
              <a:defRPr sz="1100" b="1">
                <a:solidFill>
                  <a:srgbClr val="11274B"/>
                </a:solidFill>
                <a:latin typeface="Calibri"/>
              </a:defRPr>
            </a:pPr>
            <a:r>
              <a:t>Production Labels</a:t>
            </a:r>
          </a:p>
        </p:txBody>
      </p:sp>
      <p:sp>
        <p:nvSpPr>
          <p:cNvPr id="31" name="TextBox 30"/>
          <p:cNvSpPr txBox="1"/>
          <p:nvPr/>
        </p:nvSpPr>
        <p:spPr>
          <a:xfrm>
            <a:off x="2706624" y="5166360"/>
            <a:ext cx="1911096" cy="1097280"/>
          </a:xfrm>
          <a:prstGeom prst="rect">
            <a:avLst/>
          </a:prstGeom>
          <a:noFill/>
        </p:spPr>
        <p:txBody>
          <a:bodyPr wrap="square">
            <a:spAutoFit/>
          </a:bodyPr>
          <a:lstStyle/>
          <a:p>
            <a:pPr algn="ctr">
              <a:defRPr sz="1000" b="0">
                <a:solidFill>
                  <a:srgbClr val="6B7B8D"/>
                </a:solidFill>
                <a:latin typeface="Calibri"/>
              </a:defRPr>
            </a:pPr>
            <a:r>
              <a:t>Swap synthetic fraud labels</a:t>
            </a:r>
            <a:br/>
            <a:r>
              <a:t>for confirmed ATO cases from</a:t>
            </a:r>
            <a:br/>
            <a:r>
              <a:t>SOC/fraud team feedback loops</a:t>
            </a:r>
          </a:p>
        </p:txBody>
      </p:sp>
      <p:sp>
        <p:nvSpPr>
          <p:cNvPr id="32" name="Rounded Rectangle 31"/>
          <p:cNvSpPr/>
          <p:nvPr/>
        </p:nvSpPr>
        <p:spPr>
          <a:xfrm>
            <a:off x="4809744" y="4709160"/>
            <a:ext cx="2057400" cy="16459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09744" y="4709160"/>
            <a:ext cx="2057400" cy="50800"/>
          </a:xfrm>
          <a:prstGeom prst="rect">
            <a:avLst/>
          </a:prstGeom>
          <a:solidFill>
            <a:srgbClr val="007E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82896" y="4846320"/>
            <a:ext cx="1911096" cy="320040"/>
          </a:xfrm>
          <a:prstGeom prst="rect">
            <a:avLst/>
          </a:prstGeom>
          <a:noFill/>
        </p:spPr>
        <p:txBody>
          <a:bodyPr wrap="square">
            <a:spAutoFit/>
          </a:bodyPr>
          <a:lstStyle/>
          <a:p>
            <a:pPr algn="ctr">
              <a:defRPr sz="1100" b="1">
                <a:solidFill>
                  <a:srgbClr val="11274B"/>
                </a:solidFill>
                <a:latin typeface="Calibri"/>
              </a:defRPr>
            </a:pPr>
            <a:r>
              <a:t>Multi-Channel Fraud</a:t>
            </a:r>
          </a:p>
        </p:txBody>
      </p:sp>
      <p:sp>
        <p:nvSpPr>
          <p:cNvPr id="35" name="TextBox 34"/>
          <p:cNvSpPr txBox="1"/>
          <p:nvPr/>
        </p:nvSpPr>
        <p:spPr>
          <a:xfrm>
            <a:off x="4882896" y="5166360"/>
            <a:ext cx="1911096" cy="1097280"/>
          </a:xfrm>
          <a:prstGeom prst="rect">
            <a:avLst/>
          </a:prstGeom>
          <a:noFill/>
        </p:spPr>
        <p:txBody>
          <a:bodyPr wrap="square">
            <a:spAutoFit/>
          </a:bodyPr>
          <a:lstStyle/>
          <a:p>
            <a:pPr algn="ctr">
              <a:defRPr sz="1000" b="0">
                <a:solidFill>
                  <a:srgbClr val="6B7B8D"/>
                </a:solidFill>
                <a:latin typeface="Calibri"/>
              </a:defRPr>
            </a:pPr>
            <a:r>
              <a:t>Extend beyond login events</a:t>
            </a:r>
            <a:br/>
            <a:r>
              <a:t>to payment, wire transfer, and</a:t>
            </a:r>
            <a:br/>
            <a:r>
              <a:t>account opening fraud</a:t>
            </a:r>
          </a:p>
        </p:txBody>
      </p:sp>
      <p:sp>
        <p:nvSpPr>
          <p:cNvPr id="36" name="Rounded Rectangle 35"/>
          <p:cNvSpPr/>
          <p:nvPr/>
        </p:nvSpPr>
        <p:spPr>
          <a:xfrm>
            <a:off x="6986016" y="4709160"/>
            <a:ext cx="2057400" cy="16459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986016" y="4709160"/>
            <a:ext cx="2057400" cy="508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59168" y="4846320"/>
            <a:ext cx="1911096" cy="320040"/>
          </a:xfrm>
          <a:prstGeom prst="rect">
            <a:avLst/>
          </a:prstGeom>
          <a:noFill/>
        </p:spPr>
        <p:txBody>
          <a:bodyPr wrap="square">
            <a:spAutoFit/>
          </a:bodyPr>
          <a:lstStyle/>
          <a:p>
            <a:pPr algn="ctr">
              <a:defRPr sz="1100" b="1">
                <a:solidFill>
                  <a:srgbClr val="11274B"/>
                </a:solidFill>
                <a:latin typeface="Calibri"/>
              </a:defRPr>
            </a:pPr>
            <a:r>
              <a:t>Cross-Institution Intel</a:t>
            </a:r>
          </a:p>
        </p:txBody>
      </p:sp>
      <p:sp>
        <p:nvSpPr>
          <p:cNvPr id="39" name="TextBox 38"/>
          <p:cNvSpPr txBox="1"/>
          <p:nvPr/>
        </p:nvSpPr>
        <p:spPr>
          <a:xfrm>
            <a:off x="7059168" y="5166360"/>
            <a:ext cx="1911096" cy="1097280"/>
          </a:xfrm>
          <a:prstGeom prst="rect">
            <a:avLst/>
          </a:prstGeom>
          <a:noFill/>
        </p:spPr>
        <p:txBody>
          <a:bodyPr wrap="square">
            <a:spAutoFit/>
          </a:bodyPr>
          <a:lstStyle/>
          <a:p>
            <a:pPr algn="ctr">
              <a:defRPr sz="1000" b="0">
                <a:solidFill>
                  <a:srgbClr val="6B7B8D"/>
                </a:solidFill>
                <a:latin typeface="Calibri"/>
              </a:defRPr>
            </a:pPr>
            <a:r>
              <a:t>Snowflake Data Sharing enables</a:t>
            </a:r>
            <a:br/>
            <a:r>
              <a:t>consortium threat intel without</a:t>
            </a:r>
            <a:br/>
            <a:r>
              <a:t>moving sensitive data</a:t>
            </a:r>
          </a:p>
        </p:txBody>
      </p:sp>
      <p:sp>
        <p:nvSpPr>
          <p:cNvPr id="40" name="Rounded Rectangle 39"/>
          <p:cNvSpPr/>
          <p:nvPr/>
        </p:nvSpPr>
        <p:spPr>
          <a:xfrm>
            <a:off x="9162288" y="4709160"/>
            <a:ext cx="2057400" cy="16459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162288" y="4709160"/>
            <a:ext cx="2057400" cy="50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35440" y="4846320"/>
            <a:ext cx="1911096" cy="320040"/>
          </a:xfrm>
          <a:prstGeom prst="rect">
            <a:avLst/>
          </a:prstGeom>
          <a:noFill/>
        </p:spPr>
        <p:txBody>
          <a:bodyPr wrap="square">
            <a:spAutoFit/>
          </a:bodyPr>
          <a:lstStyle/>
          <a:p>
            <a:pPr algn="ctr">
              <a:defRPr sz="1100" b="1">
                <a:solidFill>
                  <a:srgbClr val="11274B"/>
                </a:solidFill>
                <a:latin typeface="Calibri"/>
              </a:defRPr>
            </a:pPr>
            <a:r>
              <a:t>Regulatory Automation</a:t>
            </a:r>
          </a:p>
        </p:txBody>
      </p:sp>
      <p:sp>
        <p:nvSpPr>
          <p:cNvPr id="43" name="TextBox 42"/>
          <p:cNvSpPr txBox="1"/>
          <p:nvPr/>
        </p:nvSpPr>
        <p:spPr>
          <a:xfrm>
            <a:off x="9235440" y="5166360"/>
            <a:ext cx="1911096" cy="1097280"/>
          </a:xfrm>
          <a:prstGeom prst="rect">
            <a:avLst/>
          </a:prstGeom>
          <a:noFill/>
        </p:spPr>
        <p:txBody>
          <a:bodyPr wrap="square">
            <a:spAutoFit/>
          </a:bodyPr>
          <a:lstStyle/>
          <a:p>
            <a:pPr algn="ctr">
              <a:defRPr sz="1000" b="0">
                <a:solidFill>
                  <a:srgbClr val="6B7B8D"/>
                </a:solidFill>
                <a:latin typeface="Calibri"/>
              </a:defRPr>
            </a:pPr>
            <a:r>
              <a:t>Schedule Cortex Agent to</a:t>
            </a:r>
            <a:br/>
            <a:r>
              <a:t>auto-generate SAR narratives</a:t>
            </a:r>
            <a:br/>
            <a:r>
              <a:t>and compliance reports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274B"/>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9144000" cy="640080"/>
          </a:xfrm>
          <a:prstGeom prst="rect">
            <a:avLst/>
          </a:prstGeom>
          <a:noFill/>
        </p:spPr>
        <p:txBody>
          <a:bodyPr wrap="square">
            <a:spAutoFit/>
          </a:bodyPr>
          <a:lstStyle/>
          <a:p>
            <a:pPr algn="l">
              <a:defRPr sz="3600" b="1">
                <a:solidFill>
                  <a:srgbClr val="FFFFFF"/>
                </a:solidFill>
                <a:latin typeface="Calibri"/>
              </a:defRPr>
            </a:pPr>
            <a:r>
              <a:t>Key Takeaways</a:t>
            </a:r>
          </a:p>
        </p:txBody>
      </p:sp>
      <p:sp>
        <p:nvSpPr>
          <p:cNvPr id="4" name="Rectangle 3"/>
          <p:cNvSpPr/>
          <p:nvPr/>
        </p:nvSpPr>
        <p:spPr>
          <a:xfrm>
            <a:off x="731520" y="1188720"/>
            <a:ext cx="2286000"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645920"/>
            <a:ext cx="457200" cy="457200"/>
          </a:xfrm>
          <a:prstGeom prst="ellipse">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91640"/>
            <a:ext cx="457200" cy="365760"/>
          </a:xfrm>
          <a:prstGeom prst="rect">
            <a:avLst/>
          </a:prstGeom>
          <a:noFill/>
        </p:spPr>
        <p:txBody>
          <a:bodyPr wrap="square">
            <a:spAutoFit/>
          </a:bodyPr>
          <a:lstStyle/>
          <a:p>
            <a:pPr algn="ctr">
              <a:defRPr sz="1800" b="1">
                <a:solidFill>
                  <a:srgbClr val="FFFFFF"/>
                </a:solidFill>
                <a:latin typeface="Calibri"/>
              </a:defRPr>
            </a:pPr>
            <a:r>
              <a:t>1</a:t>
            </a:r>
          </a:p>
        </p:txBody>
      </p:sp>
      <p:sp>
        <p:nvSpPr>
          <p:cNvPr id="7" name="TextBox 6"/>
          <p:cNvSpPr txBox="1"/>
          <p:nvPr/>
        </p:nvSpPr>
        <p:spPr>
          <a:xfrm>
            <a:off x="1371600" y="1627632"/>
            <a:ext cx="9601200" cy="320040"/>
          </a:xfrm>
          <a:prstGeom prst="rect">
            <a:avLst/>
          </a:prstGeom>
          <a:noFill/>
        </p:spPr>
        <p:txBody>
          <a:bodyPr wrap="square">
            <a:spAutoFit/>
          </a:bodyPr>
          <a:lstStyle/>
          <a:p>
            <a:pPr algn="l">
              <a:defRPr sz="1800" b="1">
                <a:solidFill>
                  <a:srgbClr val="29B5E8"/>
                </a:solidFill>
                <a:latin typeface="Calibri"/>
              </a:defRPr>
            </a:pPr>
            <a:r>
              <a:t>Unified Platform</a:t>
            </a:r>
          </a:p>
        </p:txBody>
      </p:sp>
      <p:sp>
        <p:nvSpPr>
          <p:cNvPr id="8" name="TextBox 7"/>
          <p:cNvSpPr txBox="1"/>
          <p:nvPr/>
        </p:nvSpPr>
        <p:spPr>
          <a:xfrm>
            <a:off x="1371600" y="1965960"/>
            <a:ext cx="9601200" cy="502920"/>
          </a:xfrm>
          <a:prstGeom prst="rect">
            <a:avLst/>
          </a:prstGeom>
          <a:noFill/>
        </p:spPr>
        <p:txBody>
          <a:bodyPr wrap="square">
            <a:spAutoFit/>
          </a:bodyPr>
          <a:lstStyle/>
          <a:p>
            <a:pPr algn="l">
              <a:defRPr sz="1400" b="0">
                <a:solidFill>
                  <a:srgbClr val="6B7B8D"/>
                </a:solidFill>
                <a:latin typeface="Calibri"/>
              </a:defRPr>
            </a:pPr>
            <a:r>
              <a:t>Data, ML, policy, governance, and investigation on a single Snowflake instance — no silos, no data movement, no integration tax</a:t>
            </a:r>
          </a:p>
        </p:txBody>
      </p:sp>
      <p:sp>
        <p:nvSpPr>
          <p:cNvPr id="9" name="Oval 8"/>
          <p:cNvSpPr/>
          <p:nvPr/>
        </p:nvSpPr>
        <p:spPr>
          <a:xfrm>
            <a:off x="731520" y="2606040"/>
            <a:ext cx="457200" cy="457200"/>
          </a:xfrm>
          <a:prstGeom prst="ellipse">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51760"/>
            <a:ext cx="457200" cy="365760"/>
          </a:xfrm>
          <a:prstGeom prst="rect">
            <a:avLst/>
          </a:prstGeom>
          <a:noFill/>
        </p:spPr>
        <p:txBody>
          <a:bodyPr wrap="square">
            <a:spAutoFit/>
          </a:bodyPr>
          <a:lstStyle/>
          <a:p>
            <a:pPr algn="ctr">
              <a:defRPr sz="1800" b="1">
                <a:solidFill>
                  <a:srgbClr val="FFFFFF"/>
                </a:solidFill>
                <a:latin typeface="Calibri"/>
              </a:defRPr>
            </a:pPr>
            <a:r>
              <a:t>2</a:t>
            </a:r>
          </a:p>
        </p:txBody>
      </p:sp>
      <p:sp>
        <p:nvSpPr>
          <p:cNvPr id="11" name="TextBox 10"/>
          <p:cNvSpPr txBox="1"/>
          <p:nvPr/>
        </p:nvSpPr>
        <p:spPr>
          <a:xfrm>
            <a:off x="1371600" y="2587752"/>
            <a:ext cx="9601200" cy="320040"/>
          </a:xfrm>
          <a:prstGeom prst="rect">
            <a:avLst/>
          </a:prstGeom>
          <a:noFill/>
        </p:spPr>
        <p:txBody>
          <a:bodyPr wrap="square">
            <a:spAutoFit/>
          </a:bodyPr>
          <a:lstStyle/>
          <a:p>
            <a:pPr algn="l">
              <a:defRPr sz="1800" b="1">
                <a:solidFill>
                  <a:srgbClr val="29B5E8"/>
                </a:solidFill>
                <a:latin typeface="Calibri"/>
              </a:defRPr>
            </a:pPr>
            <a:r>
              <a:t>Multi-Layer Intelligence</a:t>
            </a:r>
          </a:p>
        </p:txBody>
      </p:sp>
      <p:sp>
        <p:nvSpPr>
          <p:cNvPr id="12" name="TextBox 11"/>
          <p:cNvSpPr txBox="1"/>
          <p:nvPr/>
        </p:nvSpPr>
        <p:spPr>
          <a:xfrm>
            <a:off x="1371600" y="2926080"/>
            <a:ext cx="9601200" cy="502920"/>
          </a:xfrm>
          <a:prstGeom prst="rect">
            <a:avLst/>
          </a:prstGeom>
          <a:noFill/>
        </p:spPr>
        <p:txBody>
          <a:bodyPr wrap="square">
            <a:spAutoFit/>
          </a:bodyPr>
          <a:lstStyle/>
          <a:p>
            <a:pPr algn="l">
              <a:defRPr sz="1400" b="0">
                <a:solidFill>
                  <a:srgbClr val="6B7B8D"/>
                </a:solidFill>
                <a:latin typeface="Calibri"/>
              </a:defRPr>
            </a:pPr>
            <a:r>
              <a:t>4-layer ML ensemble catches known fraud patterns (supervised), zero-day attacks (unsupervised), and fraud rings (graph) with calibrated scoring</a:t>
            </a:r>
          </a:p>
        </p:txBody>
      </p:sp>
      <p:sp>
        <p:nvSpPr>
          <p:cNvPr id="13" name="Oval 12"/>
          <p:cNvSpPr/>
          <p:nvPr/>
        </p:nvSpPr>
        <p:spPr>
          <a:xfrm>
            <a:off x="731520" y="3566160"/>
            <a:ext cx="457200" cy="457200"/>
          </a:xfrm>
          <a:prstGeom prst="ellipse">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611880"/>
            <a:ext cx="457200" cy="365760"/>
          </a:xfrm>
          <a:prstGeom prst="rect">
            <a:avLst/>
          </a:prstGeom>
          <a:noFill/>
        </p:spPr>
        <p:txBody>
          <a:bodyPr wrap="square">
            <a:spAutoFit/>
          </a:bodyPr>
          <a:lstStyle/>
          <a:p>
            <a:pPr algn="ctr">
              <a:defRPr sz="1800" b="1">
                <a:solidFill>
                  <a:srgbClr val="FFFFFF"/>
                </a:solidFill>
                <a:latin typeface="Calibri"/>
              </a:defRPr>
            </a:pPr>
            <a:r>
              <a:t>3</a:t>
            </a:r>
          </a:p>
        </p:txBody>
      </p:sp>
      <p:sp>
        <p:nvSpPr>
          <p:cNvPr id="15" name="TextBox 14"/>
          <p:cNvSpPr txBox="1"/>
          <p:nvPr/>
        </p:nvSpPr>
        <p:spPr>
          <a:xfrm>
            <a:off x="1371600" y="3547872"/>
            <a:ext cx="9601200" cy="320040"/>
          </a:xfrm>
          <a:prstGeom prst="rect">
            <a:avLst/>
          </a:prstGeom>
          <a:noFill/>
        </p:spPr>
        <p:txBody>
          <a:bodyPr wrap="square">
            <a:spAutoFit/>
          </a:bodyPr>
          <a:lstStyle/>
          <a:p>
            <a:pPr algn="l">
              <a:defRPr sz="1800" b="1">
                <a:solidFill>
                  <a:srgbClr val="29B5E8"/>
                </a:solidFill>
                <a:latin typeface="Calibri"/>
              </a:defRPr>
            </a:pPr>
            <a:r>
              <a:t>Real-Time Decisioning</a:t>
            </a:r>
          </a:p>
        </p:txBody>
      </p:sp>
      <p:sp>
        <p:nvSpPr>
          <p:cNvPr id="16" name="TextBox 15"/>
          <p:cNvSpPr txBox="1"/>
          <p:nvPr/>
        </p:nvSpPr>
        <p:spPr>
          <a:xfrm>
            <a:off x="1371600" y="3886200"/>
            <a:ext cx="9601200" cy="502920"/>
          </a:xfrm>
          <a:prstGeom prst="rect">
            <a:avLst/>
          </a:prstGeom>
          <a:noFill/>
        </p:spPr>
        <p:txBody>
          <a:bodyPr wrap="square">
            <a:spAutoFit/>
          </a:bodyPr>
          <a:lstStyle/>
          <a:p>
            <a:pPr algn="l">
              <a:defRPr sz="1400" b="0">
                <a:solidFill>
                  <a:srgbClr val="6B7B8D"/>
                </a:solidFill>
                <a:latin typeface="Calibri"/>
              </a:defRPr>
            </a:pPr>
            <a:r>
              <a:t>Dynamic Tables with 1-minute lag enable near-real-time feature engineering and tiered response: SAFE / STEP-UP / BLOCK</a:t>
            </a:r>
          </a:p>
        </p:txBody>
      </p:sp>
      <p:sp>
        <p:nvSpPr>
          <p:cNvPr id="17" name="Oval 16"/>
          <p:cNvSpPr/>
          <p:nvPr/>
        </p:nvSpPr>
        <p:spPr>
          <a:xfrm>
            <a:off x="731520" y="4526280"/>
            <a:ext cx="457200" cy="457200"/>
          </a:xfrm>
          <a:prstGeom prst="ellipse">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572000"/>
            <a:ext cx="457200" cy="365760"/>
          </a:xfrm>
          <a:prstGeom prst="rect">
            <a:avLst/>
          </a:prstGeom>
          <a:noFill/>
        </p:spPr>
        <p:txBody>
          <a:bodyPr wrap="square">
            <a:spAutoFit/>
          </a:bodyPr>
          <a:lstStyle/>
          <a:p>
            <a:pPr algn="ctr">
              <a:defRPr sz="1800" b="1">
                <a:solidFill>
                  <a:srgbClr val="FFFFFF"/>
                </a:solidFill>
                <a:latin typeface="Calibri"/>
              </a:defRPr>
            </a:pPr>
            <a:r>
              <a:t>4</a:t>
            </a:r>
          </a:p>
        </p:txBody>
      </p:sp>
      <p:sp>
        <p:nvSpPr>
          <p:cNvPr id="19" name="TextBox 18"/>
          <p:cNvSpPr txBox="1"/>
          <p:nvPr/>
        </p:nvSpPr>
        <p:spPr>
          <a:xfrm>
            <a:off x="1371600" y="4507992"/>
            <a:ext cx="9601200" cy="320040"/>
          </a:xfrm>
          <a:prstGeom prst="rect">
            <a:avLst/>
          </a:prstGeom>
          <a:noFill/>
        </p:spPr>
        <p:txBody>
          <a:bodyPr wrap="square">
            <a:spAutoFit/>
          </a:bodyPr>
          <a:lstStyle/>
          <a:p>
            <a:pPr algn="l">
              <a:defRPr sz="1800" b="1">
                <a:solidFill>
                  <a:srgbClr val="29B5E8"/>
                </a:solidFill>
                <a:latin typeface="Calibri"/>
              </a:defRPr>
            </a:pPr>
            <a:r>
              <a:t>Regulatory-Grade Governance</a:t>
            </a:r>
          </a:p>
        </p:txBody>
      </p:sp>
      <p:sp>
        <p:nvSpPr>
          <p:cNvPr id="20" name="TextBox 19"/>
          <p:cNvSpPr txBox="1"/>
          <p:nvPr/>
        </p:nvSpPr>
        <p:spPr>
          <a:xfrm>
            <a:off x="1371600" y="4846320"/>
            <a:ext cx="9601200" cy="502920"/>
          </a:xfrm>
          <a:prstGeom prst="rect">
            <a:avLst/>
          </a:prstGeom>
          <a:noFill/>
        </p:spPr>
        <p:txBody>
          <a:bodyPr wrap="square">
            <a:spAutoFit/>
          </a:bodyPr>
          <a:lstStyle/>
          <a:p>
            <a:pPr algn="l">
              <a:defRPr sz="1400" b="0">
                <a:solidFill>
                  <a:srgbClr val="6B7B8D"/>
                </a:solidFill>
                <a:latin typeface="Calibri"/>
              </a:defRPr>
            </a:pPr>
            <a:r>
              <a:t>24M+ audit records, masking policies, RBAC, and a Cortex Agent that answers policy and regulatory questions on demand</a:t>
            </a:r>
          </a:p>
        </p:txBody>
      </p:sp>
      <p:sp>
        <p:nvSpPr>
          <p:cNvPr id="21" name="Oval 20"/>
          <p:cNvSpPr/>
          <p:nvPr/>
        </p:nvSpPr>
        <p:spPr>
          <a:xfrm>
            <a:off x="731520" y="5486400"/>
            <a:ext cx="457200" cy="457200"/>
          </a:xfrm>
          <a:prstGeom prst="ellipse">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532120"/>
            <a:ext cx="457200" cy="365760"/>
          </a:xfrm>
          <a:prstGeom prst="rect">
            <a:avLst/>
          </a:prstGeom>
          <a:noFill/>
        </p:spPr>
        <p:txBody>
          <a:bodyPr wrap="square">
            <a:spAutoFit/>
          </a:bodyPr>
          <a:lstStyle/>
          <a:p>
            <a:pPr algn="ctr">
              <a:defRPr sz="1800" b="1">
                <a:solidFill>
                  <a:srgbClr val="FFFFFF"/>
                </a:solidFill>
                <a:latin typeface="Calibri"/>
              </a:defRPr>
            </a:pPr>
            <a:r>
              <a:t>5</a:t>
            </a:r>
          </a:p>
        </p:txBody>
      </p:sp>
      <p:sp>
        <p:nvSpPr>
          <p:cNvPr id="23" name="TextBox 22"/>
          <p:cNvSpPr txBox="1"/>
          <p:nvPr/>
        </p:nvSpPr>
        <p:spPr>
          <a:xfrm>
            <a:off x="1371600" y="5468112"/>
            <a:ext cx="9601200" cy="320040"/>
          </a:xfrm>
          <a:prstGeom prst="rect">
            <a:avLst/>
          </a:prstGeom>
          <a:noFill/>
        </p:spPr>
        <p:txBody>
          <a:bodyPr wrap="square">
            <a:spAutoFit/>
          </a:bodyPr>
          <a:lstStyle/>
          <a:p>
            <a:pPr algn="l">
              <a:defRPr sz="1800" b="1">
                <a:solidFill>
                  <a:srgbClr val="29B5E8"/>
                </a:solidFill>
                <a:latin typeface="Calibri"/>
              </a:defRPr>
            </a:pPr>
            <a:r>
              <a:t>Production-Ready &amp; Extensible</a:t>
            </a:r>
          </a:p>
        </p:txBody>
      </p:sp>
      <p:sp>
        <p:nvSpPr>
          <p:cNvPr id="24" name="TextBox 23"/>
          <p:cNvSpPr txBox="1"/>
          <p:nvPr/>
        </p:nvSpPr>
        <p:spPr>
          <a:xfrm>
            <a:off x="1371600" y="5806440"/>
            <a:ext cx="9601200" cy="502920"/>
          </a:xfrm>
          <a:prstGeom prst="rect">
            <a:avLst/>
          </a:prstGeom>
          <a:noFill/>
        </p:spPr>
        <p:txBody>
          <a:bodyPr wrap="square">
            <a:spAutoFit/>
          </a:bodyPr>
          <a:lstStyle/>
          <a:p>
            <a:pPr algn="l">
              <a:defRPr sz="1400" b="0">
                <a:solidFill>
                  <a:srgbClr val="6B7B8D"/>
                </a:solidFill>
                <a:latin typeface="Calibri"/>
              </a:defRPr>
            </a:pPr>
            <a:r>
              <a:t>10 CoCo skills, modular architecture, Model Registry versioning — extends to real-time streams, multi-channel fraud, and cross-institution intelligence</a:t>
            </a:r>
          </a:p>
        </p:txBody>
      </p:sp>
      <p:sp>
        <p:nvSpPr>
          <p:cNvPr id="25" name="Rectangle 24"/>
          <p:cNvSpPr/>
          <p:nvPr/>
        </p:nvSpPr>
        <p:spPr>
          <a:xfrm>
            <a:off x="0" y="6217920"/>
            <a:ext cx="12191695" cy="64008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236208"/>
            <a:ext cx="10515600" cy="548640"/>
          </a:xfrm>
          <a:prstGeom prst="rect">
            <a:avLst/>
          </a:prstGeom>
          <a:noFill/>
        </p:spPr>
        <p:txBody>
          <a:bodyPr wrap="square">
            <a:spAutoFit/>
          </a:bodyPr>
          <a:lstStyle/>
          <a:p>
            <a:pPr algn="ctr">
              <a:defRPr sz="1800" b="1">
                <a:solidFill>
                  <a:srgbClr val="FFFFFF"/>
                </a:solidFill>
                <a:latin typeface="Calibri"/>
              </a:defRPr>
            </a:pPr>
            <a:r>
              <a:t>ATO Fraud Detection on Snowflake  —  Built 100% on a single platform with 10 CoCo skills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